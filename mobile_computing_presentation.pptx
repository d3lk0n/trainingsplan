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3"/>
  </p:notesMasterIdLst>
  <p:handoutMasterIdLst>
    <p:handoutMasterId r:id="rId24"/>
  </p:handoutMasterIdLst>
  <p:sldIdLst>
    <p:sldId id="267" r:id="rId5"/>
    <p:sldId id="268" r:id="rId6"/>
    <p:sldId id="278" r:id="rId7"/>
    <p:sldId id="279" r:id="rId8"/>
    <p:sldId id="269" r:id="rId9"/>
    <p:sldId id="289" r:id="rId10"/>
    <p:sldId id="270" r:id="rId11"/>
    <p:sldId id="273" r:id="rId12"/>
    <p:sldId id="282" r:id="rId13"/>
    <p:sldId id="284" r:id="rId14"/>
    <p:sldId id="286" r:id="rId15"/>
    <p:sldId id="281" r:id="rId16"/>
    <p:sldId id="288" r:id="rId17"/>
    <p:sldId id="280" r:id="rId18"/>
    <p:sldId id="287" r:id="rId19"/>
    <p:sldId id="283" r:id="rId20"/>
    <p:sldId id="274" r:id="rId21"/>
    <p:sldId id="290" r:id="rId22"/>
  </p:sldIdLst>
  <p:sldSz cx="12192000" cy="6858000"/>
  <p:notesSz cx="6858000" cy="9144000"/>
  <p:defaultTextStyle>
    <a:defPPr rtl="0"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25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0" d="100"/>
          <a:sy n="90" d="100"/>
        </p:scale>
        <p:origin x="281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er Reich" userId="619ae0aacc316c90" providerId="LiveId" clId="{94E28342-C241-4CE5-959E-0008159CF7E6}"/>
    <pc:docChg chg="modSld">
      <pc:chgData name="Alexander Reich" userId="619ae0aacc316c90" providerId="LiveId" clId="{94E28342-C241-4CE5-959E-0008159CF7E6}" dt="2022-03-23T19:19:11.184" v="0" actId="1582"/>
      <pc:docMkLst>
        <pc:docMk/>
      </pc:docMkLst>
      <pc:sldChg chg="modSp mod">
        <pc:chgData name="Alexander Reich" userId="619ae0aacc316c90" providerId="LiveId" clId="{94E28342-C241-4CE5-959E-0008159CF7E6}" dt="2022-03-23T19:19:11.184" v="0" actId="1582"/>
        <pc:sldMkLst>
          <pc:docMk/>
          <pc:sldMk cId="1941274860" sldId="286"/>
        </pc:sldMkLst>
        <pc:picChg chg="mod">
          <ac:chgData name="Alexander Reich" userId="619ae0aacc316c90" providerId="LiveId" clId="{94E28342-C241-4CE5-959E-0008159CF7E6}" dt="2022-03-23T19:19:11.184" v="0" actId="1582"/>
          <ac:picMkLst>
            <pc:docMk/>
            <pc:sldMk cId="1941274860" sldId="286"/>
            <ac:picMk id="9" creationId="{B5BEEB59-0FF4-4E6E-A1CF-EE8A4994EB57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CDD188C-3A16-4834-AA58-31F0B915A677}" type="datetime1">
              <a:rPr lang="de-DE" smtClean="0"/>
              <a:t>23.03.2022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3A36C10-A9D4-4995-9BAF-95FBD77A724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0921828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de-DE" noProof="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B2F8B29-43EB-4045-9C2F-79C25EC17166}" type="datetime1">
              <a:rPr lang="de-DE" noProof="0" smtClean="0"/>
              <a:t>23.03.2022</a:t>
            </a:fld>
            <a:endParaRPr lang="de-DE" noProof="0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de-DE" noProof="0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 rtl="0"/>
            <a:r>
              <a:rPr lang="de-DE" noProof="0" dirty="0"/>
              <a:t>Zweite Ebene</a:t>
            </a:r>
          </a:p>
          <a:p>
            <a:pPr lvl="2" rtl="0"/>
            <a:r>
              <a:rPr lang="de-DE" noProof="0" dirty="0"/>
              <a:t>Dritte Ebene</a:t>
            </a:r>
          </a:p>
          <a:p>
            <a:pPr lvl="3" rtl="0"/>
            <a:r>
              <a:rPr lang="de-DE" noProof="0" dirty="0"/>
              <a:t>Vierte Ebene</a:t>
            </a:r>
          </a:p>
          <a:p>
            <a:pPr lvl="4" rtl="0"/>
            <a:r>
              <a:rPr lang="de-DE" noProof="0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de-DE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23AEF9EC-8318-4FF6-847E-A85BBD2B7E49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28319569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23AEF9EC-8318-4FF6-847E-A85BBD2B7E49}" type="slidenum">
              <a:rPr lang="de-DE" smtClean="0"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589611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23AEF9EC-8318-4FF6-847E-A85BBD2B7E49}" type="slidenum">
              <a:rPr lang="de-DE" smtClean="0"/>
              <a:t>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636239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23AEF9EC-8318-4FF6-847E-A85BBD2B7E49}" type="slidenum">
              <a:rPr lang="de-DE" smtClean="0"/>
              <a:t>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118074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23AEF9EC-8318-4FF6-847E-A85BBD2B7E49}" type="slidenum">
              <a:rPr lang="de-DE" smtClean="0"/>
              <a:t>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073714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23AEF9EC-8318-4FF6-847E-A85BBD2B7E49}" type="slidenum">
              <a:rPr lang="de-DE" smtClean="0"/>
              <a:t>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283749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23AEF9EC-8318-4FF6-847E-A85BBD2B7E49}" type="slidenum">
              <a:rPr lang="de-DE" smtClean="0"/>
              <a:t>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112351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23AEF9EC-8318-4FF6-847E-A85BBD2B7E49}" type="slidenum">
              <a:rPr lang="de-DE" smtClean="0"/>
              <a:t>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060015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23AEF9EC-8318-4FF6-847E-A85BBD2B7E49}" type="slidenum">
              <a:rPr lang="de-DE" smtClean="0"/>
              <a:t>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003176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23AEF9EC-8318-4FF6-847E-A85BBD2B7E49}" type="slidenum">
              <a:rPr lang="de-DE" smtClean="0"/>
              <a:t>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300074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23AEF9EC-8318-4FF6-847E-A85BBD2B7E49}" type="slidenum">
              <a:rPr lang="de-DE" smtClean="0"/>
              <a:t>10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908096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23AEF9EC-8318-4FF6-847E-A85BBD2B7E49}" type="slidenum">
              <a:rPr lang="de-DE" smtClean="0"/>
              <a:t>11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237875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23AEF9EC-8318-4FF6-847E-A85BBD2B7E49}" type="slidenum">
              <a:rPr lang="de-DE" smtClean="0"/>
              <a:t>12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933853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23AEF9EC-8318-4FF6-847E-A85BBD2B7E49}" type="slidenum">
              <a:rPr lang="de-DE" smtClean="0"/>
              <a:t>13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967625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23AEF9EC-8318-4FF6-847E-A85BBD2B7E49}" type="slidenum">
              <a:rPr lang="de-DE" smtClean="0"/>
              <a:t>14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617249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23AEF9EC-8318-4FF6-847E-A85BBD2B7E49}" type="slidenum">
              <a:rPr lang="de-DE" smtClean="0"/>
              <a:t>15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690863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23AEF9EC-8318-4FF6-847E-A85BBD2B7E49}" type="slidenum">
              <a:rPr lang="de-DE" smtClean="0"/>
              <a:t>16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854285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23AEF9EC-8318-4FF6-847E-A85BBD2B7E49}" type="slidenum">
              <a:rPr lang="de-DE" smtClean="0"/>
              <a:t>17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288804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23AEF9EC-8318-4FF6-847E-A85BBD2B7E49}" type="slidenum">
              <a:rPr lang="de-DE" smtClean="0"/>
              <a:t>18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747736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09600" y="261254"/>
            <a:ext cx="8226490" cy="3083767"/>
          </a:xfrm>
        </p:spPr>
        <p:txBody>
          <a:bodyPr rtlCol="0" anchor="b">
            <a:normAutofit/>
          </a:bodyPr>
          <a:lstStyle>
            <a:lvl1pPr algn="l" rtl="0">
              <a:lnSpc>
                <a:spcPct val="80000"/>
              </a:lnSpc>
              <a:defRPr sz="7200">
                <a:solidFill>
                  <a:schemeClr val="tx1"/>
                </a:solidFill>
              </a:defRPr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609600" y="3386585"/>
            <a:ext cx="8229600" cy="1371600"/>
          </a:xfrm>
        </p:spPr>
        <p:txBody>
          <a:bodyPr rtlCol="0"/>
          <a:lstStyle>
            <a:lvl1pPr marL="0" indent="0" algn="l">
              <a:spcBef>
                <a:spcPts val="1200"/>
              </a:spcBef>
              <a:buNone/>
              <a:defRPr sz="24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de-DE" noProof="0"/>
              <a:t>Master-Untertitelformat bearbeiten</a:t>
            </a: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de-DE" noProof="0" dirty="0"/>
              <a:t>Fußzeile hinzufügen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AACBC4E-82FB-41FC-B3A8-4F9BE4FA1C73}" type="datetime1">
              <a:rPr lang="de-DE" noProof="0" smtClean="0"/>
              <a:t>23.03.2022</a:t>
            </a:fld>
            <a:endParaRPr lang="de-DE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12648" y="265176"/>
            <a:ext cx="8229600" cy="3081528"/>
          </a:xfrm>
        </p:spPr>
        <p:txBody>
          <a:bodyPr rtlCol="0" anchor="b">
            <a:normAutofit/>
          </a:bodyPr>
          <a:lstStyle>
            <a:lvl1pPr rtl="0">
              <a:defRPr sz="540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12648" y="3388268"/>
            <a:ext cx="8229600" cy="1371600"/>
          </a:xfrm>
        </p:spPr>
        <p:txBody>
          <a:bodyPr rtlCol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itchFamily="34" charset="0"/>
              <a:buNone/>
              <a:tabLst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de-DE" noProof="0" dirty="0"/>
              <a:t>Fußzeile hinzufügen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AC1C15E-106D-4897-83EE-F390D9296994}" type="datetime1">
              <a:rPr lang="de-DE" noProof="0" smtClean="0"/>
              <a:t>23.03.2022</a:t>
            </a:fld>
            <a:endParaRPr lang="de-DE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506778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1295401" y="1828800"/>
            <a:ext cx="4572000" cy="4348163"/>
          </a:xfrm>
        </p:spPr>
        <p:txBody>
          <a:bodyPr rtlCol="0">
            <a:normAutofit/>
          </a:bodyPr>
          <a:lstStyle>
            <a:lvl1pPr rtl="0"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noProof="0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324599" y="1828800"/>
            <a:ext cx="4572000" cy="4348163"/>
          </a:xfrm>
        </p:spPr>
        <p:txBody>
          <a:bodyPr rtlCol="0">
            <a:normAutofit/>
          </a:bodyPr>
          <a:lstStyle>
            <a:lvl1pPr rtl="0"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noProof="0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de-DE" noProof="0" dirty="0"/>
              <a:t>Fußzeile hinzufügen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39DE8F3-BFEA-4111-B5D6-4178F443BB8D}" type="datetime1">
              <a:rPr lang="de-DE" noProof="0" smtClean="0"/>
              <a:t>23.03.2022</a:t>
            </a:fld>
            <a:endParaRPr lang="de-DE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298448" y="1627258"/>
            <a:ext cx="4572000" cy="685800"/>
          </a:xfrm>
        </p:spPr>
        <p:txBody>
          <a:bodyPr rtlCol="0" anchor="ctr">
            <a:normAutofit/>
          </a:bodyPr>
          <a:lstStyle>
            <a:lvl1pPr marL="0" indent="0" rtl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1298448" y="2373284"/>
            <a:ext cx="4572000" cy="3840480"/>
          </a:xfrm>
        </p:spPr>
        <p:txBody>
          <a:bodyPr rtlCol="0">
            <a:normAutofit/>
          </a:bodyPr>
          <a:lstStyle>
            <a:lvl1pPr rtl="0"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noProof="0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327648" y="1627258"/>
            <a:ext cx="4572000" cy="685800"/>
          </a:xfrm>
        </p:spPr>
        <p:txBody>
          <a:bodyPr rtlCol="0" anchor="ctr">
            <a:normAutofit/>
          </a:bodyPr>
          <a:lstStyle>
            <a:lvl1pPr marL="0" indent="0" rtl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327648" y="2373284"/>
            <a:ext cx="4572000" cy="3840480"/>
          </a:xfrm>
        </p:spPr>
        <p:txBody>
          <a:bodyPr rtlCol="0">
            <a:normAutofit/>
          </a:bodyPr>
          <a:lstStyle>
            <a:lvl1pPr rtl="0"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noProof="0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de-DE" noProof="0" dirty="0"/>
              <a:t>Fußzeile hinzufügen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A02097E-FA70-4415-A7F6-D123BD8BC5AD}" type="datetime1">
              <a:rPr lang="de-DE" noProof="0" smtClean="0"/>
              <a:t>23.03.2022</a:t>
            </a:fld>
            <a:endParaRPr lang="de-DE" noProof="0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de-DE" noProof="0" dirty="0"/>
              <a:t>Fußzeile hinzufügen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C5231C9-A120-4B65-B222-6A0D94CAE0E3}" type="datetime1">
              <a:rPr lang="de-DE" noProof="0" smtClean="0"/>
              <a:t>23.03.2022</a:t>
            </a:fld>
            <a:endParaRPr lang="de-DE" noProof="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de-DE" noProof="0" dirty="0"/>
              <a:t>Fußzeile hinzufügen</a:t>
            </a:r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E5B8C31-DC9F-4AB5-81CB-CC931FA224EB}" type="datetime1">
              <a:rPr lang="de-DE" noProof="0" smtClean="0"/>
              <a:t>23.03.2022</a:t>
            </a:fld>
            <a:endParaRPr lang="de-DE" noProof="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Beschriftu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/>
          <p:nvPr userDrawn="1"/>
        </p:nvSpPr>
        <p:spPr bwMode="hidden">
          <a:xfrm>
            <a:off x="0" y="0"/>
            <a:ext cx="73152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979330" y="457200"/>
            <a:ext cx="3603070" cy="1554480"/>
          </a:xfrm>
        </p:spPr>
        <p:txBody>
          <a:bodyPr rtlCol="0" anchor="b"/>
          <a:lstStyle>
            <a:lvl1pPr rtl="0">
              <a:defRPr sz="320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06490" y="685800"/>
            <a:ext cx="6102220" cy="5486400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noProof="0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7979330" y="2101850"/>
            <a:ext cx="3603070" cy="1828800"/>
          </a:xfrm>
        </p:spPr>
        <p:txBody>
          <a:bodyPr rtlCol="0"/>
          <a:lstStyle>
            <a:lvl1pPr marL="0" indent="0" rtl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de-DE" noProof="0" dirty="0"/>
              <a:t>Fußzeile hinzufügen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838B068-A0B8-4C38-97CC-658A9BE0A751}" type="datetime1">
              <a:rPr lang="de-DE" noProof="0" smtClean="0"/>
              <a:t>23.03.2022</a:t>
            </a:fld>
            <a:endParaRPr lang="de-DE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Beschriftu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/>
          <p:nvPr/>
        </p:nvSpPr>
        <p:spPr bwMode="hidden">
          <a:xfrm>
            <a:off x="0" y="0"/>
            <a:ext cx="73152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e-DE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982712" y="457200"/>
            <a:ext cx="3602736" cy="1554480"/>
          </a:xfrm>
        </p:spPr>
        <p:txBody>
          <a:bodyPr rtlCol="0" anchor="b"/>
          <a:lstStyle>
            <a:lvl1pPr rtl="0">
              <a:defRPr sz="3200"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Bildplatzhalter 2" descr="Leerer Platzhalter zum Hinzufügen eines Bilds. Klicken Sie auf den Platzhalter, und wählen Sie das hinzuzufügende Bild aus."/>
          <p:cNvSpPr>
            <a:spLocks noGrp="1"/>
          </p:cNvSpPr>
          <p:nvPr>
            <p:ph type="pic" idx="1"/>
          </p:nvPr>
        </p:nvSpPr>
        <p:spPr>
          <a:xfrm>
            <a:off x="0" y="-1"/>
            <a:ext cx="7315200" cy="6858000"/>
          </a:xfrm>
        </p:spPr>
        <p:txBody>
          <a:bodyPr tIns="457200" rtlCol="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de-DE" noProof="0"/>
              <a:t>Bild durch Klicken auf Symbol hinzufügen</a:t>
            </a:r>
            <a:endParaRPr lang="de-DE" noProof="0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7982712" y="2101850"/>
            <a:ext cx="3602736" cy="1828800"/>
          </a:xfrm>
        </p:spPr>
        <p:txBody>
          <a:bodyPr rtlCol="0"/>
          <a:lstStyle>
            <a:lvl1pPr marL="0" indent="0" rtl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977249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1pPr rtl="0">
              <a:defRPr/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de-DE" noProof="0" dirty="0"/>
              <a:t>Fußzeile hinzufügen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8B4D41E-6873-448A-BF5C-9DF4D87E2BEB}" type="datetime1">
              <a:rPr lang="de-DE" noProof="0" smtClean="0"/>
              <a:t>23.03.2022</a:t>
            </a:fld>
            <a:endParaRPr lang="de-DE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9250680" y="365125"/>
            <a:ext cx="1645920" cy="5811838"/>
          </a:xfrm>
        </p:spPr>
        <p:txBody>
          <a:bodyPr vert="eaVert" rtlCol="0"/>
          <a:lstStyle>
            <a:lvl1pPr rtl="0">
              <a:defRPr/>
            </a:lvl1pPr>
          </a:lstStyle>
          <a:p>
            <a:pPr rtl="0"/>
            <a:r>
              <a:rPr lang="de-DE" noProof="0"/>
              <a:t>Mastertitelformat bearbeiten</a:t>
            </a:r>
            <a:endParaRPr lang="de-DE" noProof="0" dirty="0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1295400" y="365125"/>
            <a:ext cx="7624664" cy="5811838"/>
          </a:xfrm>
        </p:spPr>
        <p:txBody>
          <a:bodyPr vert="eaVert" rtlCol="0"/>
          <a:lstStyle>
            <a:lvl1pPr rtl="0">
              <a:defRPr/>
            </a:lvl1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de-DE" noProof="0" dirty="0"/>
              <a:t>Fußzeile hinzufügen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D2AB7E0-185A-4BDE-894B-9CCCF0497082}" type="datetime1">
              <a:rPr lang="de-DE" noProof="0" smtClean="0"/>
              <a:t>23.03.2022</a:t>
            </a:fld>
            <a:endParaRPr lang="de-DE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de-DE" noProof="0" smtClean="0"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1295400" y="362303"/>
            <a:ext cx="9601200" cy="10699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de-DE" noProof="0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295400" y="1828799"/>
            <a:ext cx="9601200" cy="4348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 rtl="0"/>
            <a:r>
              <a:rPr lang="de-DE" noProof="0" dirty="0"/>
              <a:t>Zweite Ebene</a:t>
            </a:r>
          </a:p>
          <a:p>
            <a:pPr lvl="2" rtl="0"/>
            <a:r>
              <a:rPr lang="de-DE" noProof="0" dirty="0"/>
              <a:t>Dritte Ebene</a:t>
            </a:r>
          </a:p>
          <a:p>
            <a:pPr lvl="3" rtl="0"/>
            <a:r>
              <a:rPr lang="de-DE" noProof="0" dirty="0"/>
              <a:t>Vierte Ebene</a:t>
            </a:r>
          </a:p>
          <a:p>
            <a:pPr lvl="4" rtl="0"/>
            <a:r>
              <a:rPr lang="de-DE" noProof="0" dirty="0"/>
              <a:t>Fünfte Ebene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609600" y="6385492"/>
            <a:ext cx="6099048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accent1"/>
                </a:solidFill>
              </a:defRPr>
            </a:lvl1pPr>
          </a:lstStyle>
          <a:p>
            <a:pPr rtl="0"/>
            <a:r>
              <a:rPr lang="de-DE" noProof="0" dirty="0"/>
              <a:t>Fußzeile hinzufügen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9419253" y="6385492"/>
            <a:ext cx="982047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accent1"/>
                </a:solidFill>
              </a:defRPr>
            </a:lvl1pPr>
          </a:lstStyle>
          <a:p>
            <a:pPr rtl="0"/>
            <a:fld id="{29D5A66A-F52C-4BDA-8792-40957768C773}" type="datetime1">
              <a:rPr lang="de-DE" noProof="0" smtClean="0"/>
              <a:t>23.03.2022</a:t>
            </a:fld>
            <a:endParaRPr lang="de-DE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753532" y="6385492"/>
            <a:ext cx="828868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accent1"/>
                </a:solidFill>
              </a:defRPr>
            </a:lvl1pPr>
          </a:lstStyle>
          <a:p>
            <a:pPr rtl="0"/>
            <a:fld id="{E31375A4-56A4-47D6-9801-1991572033F7}" type="slidenum">
              <a:rPr lang="de-DE" noProof="0" smtClean="0"/>
              <a:pPr/>
              <a:t>‹Nr.›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de-DE" dirty="0"/>
              <a:t>My Fitness Plan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609600" y="3734635"/>
            <a:ext cx="8229600" cy="1371600"/>
          </a:xfrm>
        </p:spPr>
        <p:txBody>
          <a:bodyPr rtlCol="0">
            <a:normAutofit lnSpcReduction="10000"/>
          </a:bodyPr>
          <a:lstStyle/>
          <a:p>
            <a:pPr rtl="0"/>
            <a:r>
              <a:rPr lang="de-DE" dirty="0"/>
              <a:t>Mobile Computing</a:t>
            </a:r>
          </a:p>
          <a:p>
            <a:pPr rtl="0"/>
            <a:r>
              <a:rPr lang="de-DE" dirty="0"/>
              <a:t>Alexander Reich</a:t>
            </a:r>
          </a:p>
          <a:p>
            <a:pPr rtl="0"/>
            <a:r>
              <a:rPr lang="de-DE" dirty="0"/>
              <a:t>19INB-2</a:t>
            </a:r>
          </a:p>
        </p:txBody>
      </p:sp>
    </p:spTree>
    <p:extLst>
      <p:ext uri="{BB962C8B-B14F-4D97-AF65-F5344CB8AC3E}">
        <p14:creationId xmlns:p14="http://schemas.microsoft.com/office/powerpoint/2010/main" val="1051878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295400" y="362303"/>
            <a:ext cx="9601200" cy="1069940"/>
          </a:xfrm>
        </p:spPr>
        <p:txBody>
          <a:bodyPr rtlCol="0" anchor="b">
            <a:normAutofit/>
          </a:bodyPr>
          <a:lstStyle/>
          <a:p>
            <a:pPr rtl="0"/>
            <a:r>
              <a:rPr lang="de-DE" dirty="0"/>
              <a:t>‚Initiale Idee‘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77107" y="1794545"/>
            <a:ext cx="6502921" cy="4572000"/>
          </a:xfrm>
        </p:spPr>
        <p:txBody>
          <a:bodyPr rtlCol="0">
            <a:normAutofit/>
          </a:bodyPr>
          <a:lstStyle/>
          <a:p>
            <a:pPr marL="0" indent="0" rtl="0">
              <a:buNone/>
            </a:pPr>
            <a:r>
              <a:rPr lang="de-DE" sz="2400" dirty="0"/>
              <a:t>Features: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>
                <a:effectLst/>
                <a:latin typeface="Calibri" panose="020F0502020204030204" pitchFamily="34" charset="0"/>
              </a:rPr>
              <a:t>Eigene erweiterbare Liste an Übungen (einige vorgegeben)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>
                <a:effectLst/>
                <a:latin typeface="Calibri" panose="020F0502020204030204" pitchFamily="34" charset="0"/>
              </a:rPr>
              <a:t>Selbst erstellbarer Trainingsplan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>
                <a:effectLst/>
                <a:latin typeface="Calibri" panose="020F0502020204030204" pitchFamily="34" charset="0"/>
              </a:rPr>
              <a:t>Kalender, in dem alle Pläne für die nächste x Wochen stehen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>
                <a:effectLst/>
                <a:latin typeface="Calibri" panose="020F0502020204030204" pitchFamily="34" charset="0"/>
              </a:rPr>
              <a:t>Verlauf aller Trainingssessions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>
                <a:effectLst/>
                <a:latin typeface="Calibri" panose="020F0502020204030204" pitchFamily="34" charset="0"/>
              </a:rPr>
              <a:t>Stoppuhr für einzelne Pläne/Übungen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>
                <a:effectLst/>
                <a:latin typeface="Calibri" panose="020F0502020204030204" pitchFamily="34" charset="0"/>
              </a:rPr>
              <a:t>Neue Bestzeiten/Max. Anzahl von Wiederholungen werden automatisch gespeichert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>
                <a:effectLst/>
                <a:latin typeface="Calibri" panose="020F0502020204030204" pitchFamily="34" charset="0"/>
              </a:rPr>
              <a:t>Einstellungen über Zahnrad erreichbar</a:t>
            </a:r>
          </a:p>
        </p:txBody>
      </p:sp>
      <p:pic>
        <p:nvPicPr>
          <p:cNvPr id="1027" name="Picture 3" descr="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">
            <a:extLst>
              <a:ext uri="{FF2B5EF4-FFF2-40B4-BE49-F238E27FC236}">
                <a16:creationId xmlns:a16="http://schemas.microsoft.com/office/drawing/2014/main" id="{D71405B7-8238-4955-BC66-AE28C6F527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6518" y="3371354"/>
            <a:ext cx="3367728" cy="2237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creens: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Freihandzeichnungen&#10;">
            <a:extLst>
              <a:ext uri="{FF2B5EF4-FFF2-40B4-BE49-F238E27FC236}">
                <a16:creationId xmlns:a16="http://schemas.microsoft.com/office/drawing/2014/main" id="{D90124B9-42A9-47E8-8460-1C143861B2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6518" y="616109"/>
            <a:ext cx="3345639" cy="2237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6596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295400" y="362303"/>
            <a:ext cx="9601200" cy="1069940"/>
          </a:xfrm>
        </p:spPr>
        <p:txBody>
          <a:bodyPr rtlCol="0" anchor="b">
            <a:normAutofit/>
          </a:bodyPr>
          <a:lstStyle/>
          <a:p>
            <a:pPr rtl="0"/>
            <a:r>
              <a:rPr lang="de-DE" dirty="0"/>
              <a:t>Analysen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04329" y="1616655"/>
            <a:ext cx="4705925" cy="3693319"/>
          </a:xfrm>
        </p:spPr>
        <p:txBody>
          <a:bodyPr rtlCol="0">
            <a:normAutofit/>
          </a:bodyPr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 dirty="0">
                <a:effectLst/>
                <a:latin typeface="Calibri" panose="020F0502020204030204" pitchFamily="34" charset="0"/>
              </a:rPr>
              <a:t>Konkurrenzanalyse: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sz="1800" dirty="0">
                <a:effectLst/>
                <a:latin typeface="Calibri" panose="020F0502020204030204" pitchFamily="34" charset="0"/>
              </a:rPr>
              <a:t>Es existieren bis jetzt sehr viele Fitness/Trainingsplan Apps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sz="1800" dirty="0">
                <a:effectLst/>
                <a:latin typeface="Calibri" panose="020F0502020204030204" pitchFamily="34" charset="0"/>
              </a:rPr>
              <a:t>Viele davon speziell für Frauen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sz="1800" dirty="0">
                <a:effectLst/>
                <a:latin typeface="Calibri" panose="020F0502020204030204" pitchFamily="34" charset="0"/>
              </a:rPr>
              <a:t>Viele haben mehrere tausend Bewertungen (4-5 Sterne)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sz="1800" dirty="0">
                <a:effectLst/>
                <a:latin typeface="Calibri" panose="020F0502020204030204" pitchFamily="34" charset="0"/>
              </a:rPr>
              <a:t>Verbesserung: einfügen selbst erstellter Übungen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sz="1800" dirty="0">
                <a:effectLst/>
                <a:latin typeface="Calibri" panose="020F0502020204030204" pitchFamily="34" charset="0"/>
              </a:rPr>
              <a:t>Trainingspläne "bauen" und erfassen von Rekorden (vielleicht neu)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sz="1800" dirty="0">
                <a:effectLst/>
                <a:latin typeface="Calibri" panose="020F0502020204030204" pitchFamily="34" charset="0"/>
              </a:rPr>
              <a:t>In Kommentaren wird oft nach Guides gefragt (kann ich selbst nicht umsetzen)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de-DE" sz="1100" dirty="0">
              <a:effectLst/>
              <a:latin typeface="Calibri" panose="020F0502020204030204" pitchFamily="34" charset="0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132E63C-732D-4DD6-8CC7-95FED67E60CB}"/>
              </a:ext>
            </a:extLst>
          </p:cNvPr>
          <p:cNvSpPr txBox="1"/>
          <p:nvPr/>
        </p:nvSpPr>
        <p:spPr>
          <a:xfrm>
            <a:off x="5932920" y="1373126"/>
            <a:ext cx="609467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de-DE" dirty="0">
                <a:effectLst/>
                <a:latin typeface="Calibri" panose="020F0502020204030204" pitchFamily="34" charset="0"/>
              </a:rPr>
              <a:t>Kosten-Nutzen-Analyse: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de-DE" b="0" i="0" dirty="0">
                <a:effectLst/>
                <a:latin typeface="Calibri" panose="020F0502020204030204" pitchFamily="34" charset="0"/>
              </a:rPr>
              <a:t>Kalender</a:t>
            </a:r>
          </a:p>
          <a:p>
            <a:pPr marL="742950" lvl="1" indent="-285750" rtl="0" fontAlgn="ct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de-DE" b="0" i="0" dirty="0">
                <a:effectLst/>
                <a:latin typeface="Calibri" panose="020F0502020204030204" pitchFamily="34" charset="0"/>
              </a:rPr>
              <a:t>Erinnerung an Training</a:t>
            </a:r>
          </a:p>
          <a:p>
            <a:pPr marL="742950" lvl="1" indent="-285750" rtl="0" fontAlgn="ct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de-DE" b="0" i="0" dirty="0">
                <a:effectLst/>
                <a:latin typeface="Calibri" panose="020F0502020204030204" pitchFamily="34" charset="0"/>
              </a:rPr>
              <a:t>Kalenderübersicht mit Link zu Trainingsplan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de-DE" b="0" i="0" dirty="0">
                <a:effectLst/>
                <a:latin typeface="Calibri" panose="020F0502020204030204" pitchFamily="34" charset="0"/>
              </a:rPr>
              <a:t>Übungen</a:t>
            </a:r>
          </a:p>
          <a:p>
            <a:pPr marL="742950" lvl="1" indent="-285750" rtl="0" fontAlgn="ct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de-DE" b="0" i="0" dirty="0">
                <a:effectLst/>
                <a:latin typeface="Calibri" panose="020F0502020204030204" pitchFamily="34" charset="0"/>
              </a:rPr>
              <a:t>Eigene können hinzugefügt werden</a:t>
            </a:r>
          </a:p>
          <a:p>
            <a:pPr marL="742950" lvl="1" indent="-285750" rtl="0" fontAlgn="ct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de-DE" b="0" i="0" dirty="0">
                <a:effectLst/>
                <a:latin typeface="Calibri" panose="020F0502020204030204" pitchFamily="34" charset="0"/>
              </a:rPr>
              <a:t>Guides/Videos/Bilder</a:t>
            </a:r>
          </a:p>
          <a:p>
            <a:pPr marL="742950" lvl="1" indent="-285750" rtl="0" fontAlgn="ct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de-DE" b="0" i="0" dirty="0">
                <a:effectLst/>
                <a:latin typeface="Calibri" panose="020F0502020204030204" pitchFamily="34" charset="0"/>
              </a:rPr>
              <a:t>Übungen über Trainingsplan </a:t>
            </a:r>
            <a:r>
              <a:rPr lang="de-DE" b="0" i="0" dirty="0" err="1">
                <a:effectLst/>
                <a:latin typeface="Calibri" panose="020F0502020204030204" pitchFamily="34" charset="0"/>
              </a:rPr>
              <a:t>eintragbar</a:t>
            </a:r>
            <a:r>
              <a:rPr lang="de-DE" b="0" i="0" dirty="0">
                <a:effectLst/>
                <a:latin typeface="Calibri" panose="020F0502020204030204" pitchFamily="34" charset="0"/>
              </a:rPr>
              <a:t> 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de-DE" b="0" i="0" dirty="0">
                <a:effectLst/>
                <a:latin typeface="Calibri" panose="020F0502020204030204" pitchFamily="34" charset="0"/>
              </a:rPr>
              <a:t>Erfassung</a:t>
            </a:r>
          </a:p>
          <a:p>
            <a:pPr marL="742950" lvl="1" indent="-285750" rtl="0" fontAlgn="ct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de-DE" b="0" i="0" dirty="0">
                <a:effectLst/>
                <a:latin typeface="Calibri" panose="020F0502020204030204" pitchFamily="34" charset="0"/>
              </a:rPr>
              <a:t>Rekorde werden automatisch erfasst</a:t>
            </a:r>
          </a:p>
          <a:p>
            <a:pPr marL="742950" lvl="1" indent="-285750" rtl="0" fontAlgn="ct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de-DE" b="0" i="0" dirty="0">
                <a:effectLst/>
                <a:latin typeface="Calibri" panose="020F0502020204030204" pitchFamily="34" charset="0"/>
              </a:rPr>
              <a:t>Besten werden gespeichert</a:t>
            </a:r>
          </a:p>
          <a:p>
            <a:pPr marL="742950" lvl="1" indent="-285750" rtl="0" fontAlgn="ct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de-DE" b="0" i="0" dirty="0">
                <a:effectLst/>
                <a:latin typeface="Calibri" panose="020F0502020204030204" pitchFamily="34" charset="0"/>
              </a:rPr>
              <a:t>Diagramme mit Verbesserungen</a:t>
            </a:r>
          </a:p>
          <a:p>
            <a:pPr marL="742950" lvl="1" indent="-285750" rtl="0" fontAlgn="ct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de-DE" b="0" i="0" dirty="0">
                <a:effectLst/>
                <a:latin typeface="Calibri" panose="020F0502020204030204" pitchFamily="34" charset="0"/>
              </a:rPr>
              <a:t>Verlauf ist einsehbar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925AA033-2C13-4941-B90B-4D061691F967}"/>
              </a:ext>
            </a:extLst>
          </p:cNvPr>
          <p:cNvSpPr txBox="1"/>
          <p:nvPr/>
        </p:nvSpPr>
        <p:spPr>
          <a:xfrm>
            <a:off x="6096000" y="5309974"/>
            <a:ext cx="60946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de-DE" sz="1800" dirty="0">
                <a:effectLst/>
                <a:latin typeface="Calibri" panose="020F0502020204030204" pitchFamily="34" charset="0"/>
              </a:rPr>
              <a:t>Möglich zu kompliziert/zu viel Aufwand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sz="1800" dirty="0">
                <a:effectLst/>
                <a:latin typeface="Calibri" panose="020F0502020204030204" pitchFamily="34" charset="0"/>
              </a:rPr>
              <a:t>Guides etc. zu Übungen (obwohl Nutzen nicht gering)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sz="1800" dirty="0">
                <a:effectLst/>
                <a:latin typeface="Calibri" panose="020F0502020204030204" pitchFamily="34" charset="0"/>
              </a:rPr>
              <a:t>Diagramme mit Rekorden</a:t>
            </a:r>
          </a:p>
        </p:txBody>
      </p:sp>
    </p:spTree>
    <p:extLst>
      <p:ext uri="{BB962C8B-B14F-4D97-AF65-F5344CB8AC3E}">
        <p14:creationId xmlns:p14="http://schemas.microsoft.com/office/powerpoint/2010/main" val="1543981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295400" y="362303"/>
            <a:ext cx="9601200" cy="1069940"/>
          </a:xfrm>
        </p:spPr>
        <p:txBody>
          <a:bodyPr rtlCol="0" anchor="b">
            <a:normAutofit/>
          </a:bodyPr>
          <a:lstStyle/>
          <a:p>
            <a:pPr rtl="0"/>
            <a:r>
              <a:rPr lang="de-DE" dirty="0"/>
              <a:t>Analysen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75E78D1F-D378-4216-BC6E-104635EEBD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3638" y="1614116"/>
            <a:ext cx="4771444" cy="4467432"/>
          </a:xfrm>
        </p:spPr>
        <p:txBody>
          <a:bodyPr/>
          <a:lstStyle/>
          <a:p>
            <a:pPr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800" dirty="0">
                <a:effectLst/>
                <a:latin typeface="Calibri" panose="020F0502020204030204" pitchFamily="34" charset="0"/>
              </a:rPr>
              <a:t>Grobe Kostenkalkulation: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sz="1800" dirty="0">
                <a:effectLst/>
                <a:latin typeface="Calibri" panose="020F0502020204030204" pitchFamily="34" charset="0"/>
              </a:rPr>
              <a:t>(Rollen alle von mir übernommen)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sz="1800" dirty="0">
                <a:effectLst/>
                <a:latin typeface="Calibri" panose="020F0502020204030204" pitchFamily="34" charset="0"/>
              </a:rPr>
              <a:t>Aufwand auf 3-4h pro Woche beschränkt</a:t>
            </a:r>
          </a:p>
          <a:p>
            <a:endParaRPr lang="de-DE" dirty="0"/>
          </a:p>
        </p:txBody>
      </p:sp>
      <p:graphicFrame>
        <p:nvGraphicFramePr>
          <p:cNvPr id="13" name="Tabelle 12">
            <a:extLst>
              <a:ext uri="{FF2B5EF4-FFF2-40B4-BE49-F238E27FC236}">
                <a16:creationId xmlns:a16="http://schemas.microsoft.com/office/drawing/2014/main" id="{88E1D970-939C-480D-83C8-74EB7F3D4F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5150553"/>
              </p:ext>
            </p:extLst>
          </p:nvPr>
        </p:nvGraphicFramePr>
        <p:xfrm>
          <a:off x="591691" y="2687102"/>
          <a:ext cx="4405684" cy="1671290"/>
        </p:xfrm>
        <a:graphic>
          <a:graphicData uri="http://schemas.openxmlformats.org/drawingml/2006/table">
            <a:tbl>
              <a:tblPr/>
              <a:tblGrid>
                <a:gridCol w="1813210">
                  <a:extLst>
                    <a:ext uri="{9D8B030D-6E8A-4147-A177-3AD203B41FA5}">
                      <a16:colId xmlns:a16="http://schemas.microsoft.com/office/drawing/2014/main" val="3445639447"/>
                    </a:ext>
                  </a:extLst>
                </a:gridCol>
                <a:gridCol w="814967">
                  <a:extLst>
                    <a:ext uri="{9D8B030D-6E8A-4147-A177-3AD203B41FA5}">
                      <a16:colId xmlns:a16="http://schemas.microsoft.com/office/drawing/2014/main" val="974192822"/>
                    </a:ext>
                  </a:extLst>
                </a:gridCol>
                <a:gridCol w="814967">
                  <a:extLst>
                    <a:ext uri="{9D8B030D-6E8A-4147-A177-3AD203B41FA5}">
                      <a16:colId xmlns:a16="http://schemas.microsoft.com/office/drawing/2014/main" val="3034165485"/>
                    </a:ext>
                  </a:extLst>
                </a:gridCol>
                <a:gridCol w="962540">
                  <a:extLst>
                    <a:ext uri="{9D8B030D-6E8A-4147-A177-3AD203B41FA5}">
                      <a16:colId xmlns:a16="http://schemas.microsoft.com/office/drawing/2014/main" val="2421684721"/>
                    </a:ext>
                  </a:extLst>
                </a:gridCol>
              </a:tblGrid>
              <a:tr h="334258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  <a:latin typeface="Calibri" panose="020F0502020204030204" pitchFamily="34" charset="0"/>
                        </a:rPr>
                        <a:t>Tage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  <a:latin typeface="Calibri" panose="020F0502020204030204" pitchFamily="34" charset="0"/>
                        </a:rPr>
                        <a:t>Std/Tag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7187272"/>
                  </a:ext>
                </a:extLst>
              </a:tr>
              <a:tr h="334258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  <a:latin typeface="Calibri" panose="020F0502020204030204" pitchFamily="34" charset="0"/>
                        </a:rPr>
                        <a:t>Kalender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0982562"/>
                  </a:ext>
                </a:extLst>
              </a:tr>
              <a:tr h="334258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  <a:latin typeface="Calibri" panose="020F0502020204030204" pitchFamily="34" charset="0"/>
                        </a:rPr>
                        <a:t>Übungen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1505433"/>
                  </a:ext>
                </a:extLst>
              </a:tr>
              <a:tr h="334258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  <a:latin typeface="Calibri" panose="020F0502020204030204" pitchFamily="34" charset="0"/>
                        </a:rPr>
                        <a:t>Erfassen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1605560"/>
                  </a:ext>
                </a:extLst>
              </a:tr>
              <a:tr h="334258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  <a:latin typeface="Calibri" panose="020F0502020204030204" pitchFamily="34" charset="0"/>
                        </a:rPr>
                        <a:t>(Rest, Einstellungen)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100" dirty="0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4287374"/>
                  </a:ext>
                </a:extLst>
              </a:tr>
            </a:tbl>
          </a:graphicData>
        </a:graphic>
      </p:graphicFrame>
      <p:sp>
        <p:nvSpPr>
          <p:cNvPr id="14" name="Rectangle 2">
            <a:extLst>
              <a:ext uri="{FF2B5EF4-FFF2-40B4-BE49-F238E27FC236}">
                <a16:creationId xmlns:a16="http://schemas.microsoft.com/office/drawing/2014/main" id="{9F968AF1-98E2-4364-9A7A-2E26608929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691" y="2593037"/>
            <a:ext cx="2031011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1.Konzept für Features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7" name="Tabelle 16">
            <a:extLst>
              <a:ext uri="{FF2B5EF4-FFF2-40B4-BE49-F238E27FC236}">
                <a16:creationId xmlns:a16="http://schemas.microsoft.com/office/drawing/2014/main" id="{41F7B66F-455D-4099-AFDB-124A86C26E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1127602"/>
              </p:ext>
            </p:extLst>
          </p:nvPr>
        </p:nvGraphicFramePr>
        <p:xfrm>
          <a:off x="603638" y="4472821"/>
          <a:ext cx="4393737" cy="1671290"/>
        </p:xfrm>
        <a:graphic>
          <a:graphicData uri="http://schemas.openxmlformats.org/drawingml/2006/table">
            <a:tbl>
              <a:tblPr/>
              <a:tblGrid>
                <a:gridCol w="1813211">
                  <a:extLst>
                    <a:ext uri="{9D8B030D-6E8A-4147-A177-3AD203B41FA5}">
                      <a16:colId xmlns:a16="http://schemas.microsoft.com/office/drawing/2014/main" val="3595377227"/>
                    </a:ext>
                  </a:extLst>
                </a:gridCol>
                <a:gridCol w="814968">
                  <a:extLst>
                    <a:ext uri="{9D8B030D-6E8A-4147-A177-3AD203B41FA5}">
                      <a16:colId xmlns:a16="http://schemas.microsoft.com/office/drawing/2014/main" val="648559586"/>
                    </a:ext>
                  </a:extLst>
                </a:gridCol>
                <a:gridCol w="814968">
                  <a:extLst>
                    <a:ext uri="{9D8B030D-6E8A-4147-A177-3AD203B41FA5}">
                      <a16:colId xmlns:a16="http://schemas.microsoft.com/office/drawing/2014/main" val="2852099024"/>
                    </a:ext>
                  </a:extLst>
                </a:gridCol>
                <a:gridCol w="950590">
                  <a:extLst>
                    <a:ext uri="{9D8B030D-6E8A-4147-A177-3AD203B41FA5}">
                      <a16:colId xmlns:a16="http://schemas.microsoft.com/office/drawing/2014/main" val="3745048953"/>
                    </a:ext>
                  </a:extLst>
                </a:gridCol>
              </a:tblGrid>
              <a:tr h="334258">
                <a:tc>
                  <a:txBody>
                    <a:bodyPr/>
                    <a:lstStyle/>
                    <a:p>
                      <a:pPr marL="34290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  <a:latin typeface="Calibri" panose="020F0502020204030204" pitchFamily="34" charset="0"/>
                        </a:rPr>
                        <a:t>Tage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  <a:latin typeface="Calibri" panose="020F0502020204030204" pitchFamily="34" charset="0"/>
                        </a:rPr>
                        <a:t>Std/Tag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1288859"/>
                  </a:ext>
                </a:extLst>
              </a:tr>
              <a:tr h="334258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  <a:latin typeface="Calibri" panose="020F0502020204030204" pitchFamily="34" charset="0"/>
                        </a:rPr>
                        <a:t>Kalender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100" dirty="0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8071595"/>
                  </a:ext>
                </a:extLst>
              </a:tr>
              <a:tr h="334258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  <a:latin typeface="Calibri" panose="020F0502020204030204" pitchFamily="34" charset="0"/>
                        </a:rPr>
                        <a:t>Übungen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5741115"/>
                  </a:ext>
                </a:extLst>
              </a:tr>
              <a:tr h="334258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  <a:latin typeface="Calibri" panose="020F0502020204030204" pitchFamily="34" charset="0"/>
                        </a:rPr>
                        <a:t>Erfassen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5435836"/>
                  </a:ext>
                </a:extLst>
              </a:tr>
              <a:tr h="334258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  <a:latin typeface="Calibri" panose="020F0502020204030204" pitchFamily="34" charset="0"/>
                        </a:rPr>
                        <a:t>(Rest, Einstellungen)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100" dirty="0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9663575"/>
                  </a:ext>
                </a:extLst>
              </a:tr>
            </a:tbl>
          </a:graphicData>
        </a:graphic>
      </p:graphicFrame>
      <p:sp>
        <p:nvSpPr>
          <p:cNvPr id="18" name="Rectangle 3">
            <a:extLst>
              <a:ext uri="{FF2B5EF4-FFF2-40B4-BE49-F238E27FC236}">
                <a16:creationId xmlns:a16="http://schemas.microsoft.com/office/drawing/2014/main" id="{865867B5-F8EA-4540-AA00-F9144D2450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702" y="4358392"/>
            <a:ext cx="1184934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2.Design/UI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9" name="Tabelle 18">
            <a:extLst>
              <a:ext uri="{FF2B5EF4-FFF2-40B4-BE49-F238E27FC236}">
                <a16:creationId xmlns:a16="http://schemas.microsoft.com/office/drawing/2014/main" id="{6A4B7C00-FC99-412E-90D8-C6DE9DC38D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7611485"/>
              </p:ext>
            </p:extLst>
          </p:nvPr>
        </p:nvGraphicFramePr>
        <p:xfrm>
          <a:off x="5175638" y="2690609"/>
          <a:ext cx="4179913" cy="1671290"/>
        </p:xfrm>
        <a:graphic>
          <a:graphicData uri="http://schemas.openxmlformats.org/drawingml/2006/table">
            <a:tbl>
              <a:tblPr/>
              <a:tblGrid>
                <a:gridCol w="1813210">
                  <a:extLst>
                    <a:ext uri="{9D8B030D-6E8A-4147-A177-3AD203B41FA5}">
                      <a16:colId xmlns:a16="http://schemas.microsoft.com/office/drawing/2014/main" val="3925693593"/>
                    </a:ext>
                  </a:extLst>
                </a:gridCol>
                <a:gridCol w="814967">
                  <a:extLst>
                    <a:ext uri="{9D8B030D-6E8A-4147-A177-3AD203B41FA5}">
                      <a16:colId xmlns:a16="http://schemas.microsoft.com/office/drawing/2014/main" val="2997044022"/>
                    </a:ext>
                  </a:extLst>
                </a:gridCol>
                <a:gridCol w="814967">
                  <a:extLst>
                    <a:ext uri="{9D8B030D-6E8A-4147-A177-3AD203B41FA5}">
                      <a16:colId xmlns:a16="http://schemas.microsoft.com/office/drawing/2014/main" val="4051912974"/>
                    </a:ext>
                  </a:extLst>
                </a:gridCol>
                <a:gridCol w="736769">
                  <a:extLst>
                    <a:ext uri="{9D8B030D-6E8A-4147-A177-3AD203B41FA5}">
                      <a16:colId xmlns:a16="http://schemas.microsoft.com/office/drawing/2014/main" val="4158807833"/>
                    </a:ext>
                  </a:extLst>
                </a:gridCol>
              </a:tblGrid>
              <a:tr h="334258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100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  <a:latin typeface="Calibri" panose="020F0502020204030204" pitchFamily="34" charset="0"/>
                        </a:rPr>
                        <a:t>Tage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  <a:latin typeface="Calibri" panose="020F0502020204030204" pitchFamily="34" charset="0"/>
                        </a:rPr>
                        <a:t>Std/Tag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2611973"/>
                  </a:ext>
                </a:extLst>
              </a:tr>
              <a:tr h="334258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  <a:latin typeface="Calibri" panose="020F0502020204030204" pitchFamily="34" charset="0"/>
                        </a:rPr>
                        <a:t>Kalender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5583112"/>
                  </a:ext>
                </a:extLst>
              </a:tr>
              <a:tr h="334258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  <a:latin typeface="Calibri" panose="020F0502020204030204" pitchFamily="34" charset="0"/>
                        </a:rPr>
                        <a:t>Übungen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1269471"/>
                  </a:ext>
                </a:extLst>
              </a:tr>
              <a:tr h="334258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  <a:latin typeface="Calibri" panose="020F0502020204030204" pitchFamily="34" charset="0"/>
                        </a:rPr>
                        <a:t>Erfassen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  <a:latin typeface="Calibri" panose="020F0502020204030204" pitchFamily="34" charset="0"/>
                        </a:rPr>
                        <a:t>3-4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  <a:latin typeface="Calibri" panose="020F0502020204030204" pitchFamily="34" charset="0"/>
                        </a:rPr>
                        <a:t>3-4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0597350"/>
                  </a:ext>
                </a:extLst>
              </a:tr>
              <a:tr h="334258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  <a:latin typeface="Calibri" panose="020F0502020204030204" pitchFamily="34" charset="0"/>
                        </a:rPr>
                        <a:t>(Rest, Einstellungen)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100" dirty="0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7709424"/>
                  </a:ext>
                </a:extLst>
              </a:tr>
            </a:tbl>
          </a:graphicData>
        </a:graphic>
      </p:graphicFrame>
      <p:sp>
        <p:nvSpPr>
          <p:cNvPr id="20" name="Rectangle 4">
            <a:extLst>
              <a:ext uri="{FF2B5EF4-FFF2-40B4-BE49-F238E27FC236}">
                <a16:creationId xmlns:a16="http://schemas.microsoft.com/office/drawing/2014/main" id="{138070D9-CB18-4BC4-9560-013E376F31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9134" y="2593037"/>
            <a:ext cx="1467674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3.Development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1" name="Tabelle 20">
            <a:extLst>
              <a:ext uri="{FF2B5EF4-FFF2-40B4-BE49-F238E27FC236}">
                <a16:creationId xmlns:a16="http://schemas.microsoft.com/office/drawing/2014/main" id="{B40BE70E-2B9B-45F4-9501-D7559F0F9C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4111731"/>
              </p:ext>
            </p:extLst>
          </p:nvPr>
        </p:nvGraphicFramePr>
        <p:xfrm>
          <a:off x="5175638" y="4467784"/>
          <a:ext cx="4179913" cy="1671290"/>
        </p:xfrm>
        <a:graphic>
          <a:graphicData uri="http://schemas.openxmlformats.org/drawingml/2006/table">
            <a:tbl>
              <a:tblPr/>
              <a:tblGrid>
                <a:gridCol w="1813210">
                  <a:extLst>
                    <a:ext uri="{9D8B030D-6E8A-4147-A177-3AD203B41FA5}">
                      <a16:colId xmlns:a16="http://schemas.microsoft.com/office/drawing/2014/main" val="4267199768"/>
                    </a:ext>
                  </a:extLst>
                </a:gridCol>
                <a:gridCol w="814967">
                  <a:extLst>
                    <a:ext uri="{9D8B030D-6E8A-4147-A177-3AD203B41FA5}">
                      <a16:colId xmlns:a16="http://schemas.microsoft.com/office/drawing/2014/main" val="4279578082"/>
                    </a:ext>
                  </a:extLst>
                </a:gridCol>
                <a:gridCol w="814967">
                  <a:extLst>
                    <a:ext uri="{9D8B030D-6E8A-4147-A177-3AD203B41FA5}">
                      <a16:colId xmlns:a16="http://schemas.microsoft.com/office/drawing/2014/main" val="3340364801"/>
                    </a:ext>
                  </a:extLst>
                </a:gridCol>
                <a:gridCol w="736769">
                  <a:extLst>
                    <a:ext uri="{9D8B030D-6E8A-4147-A177-3AD203B41FA5}">
                      <a16:colId xmlns:a16="http://schemas.microsoft.com/office/drawing/2014/main" val="1792666705"/>
                    </a:ext>
                  </a:extLst>
                </a:gridCol>
              </a:tblGrid>
              <a:tr h="334258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  <a:latin typeface="Calibri" panose="020F0502020204030204" pitchFamily="34" charset="0"/>
                        </a:rPr>
                        <a:t>Tage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  <a:latin typeface="Calibri" panose="020F0502020204030204" pitchFamily="34" charset="0"/>
                        </a:rPr>
                        <a:t>Std/Tag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0332478"/>
                  </a:ext>
                </a:extLst>
              </a:tr>
              <a:tr h="334258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  <a:latin typeface="Calibri" panose="020F0502020204030204" pitchFamily="34" charset="0"/>
                        </a:rPr>
                        <a:t>Kalender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9035401"/>
                  </a:ext>
                </a:extLst>
              </a:tr>
              <a:tr h="334258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  <a:latin typeface="Calibri" panose="020F0502020204030204" pitchFamily="34" charset="0"/>
                        </a:rPr>
                        <a:t>Übungen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9295586"/>
                  </a:ext>
                </a:extLst>
              </a:tr>
              <a:tr h="334258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  <a:latin typeface="Calibri" panose="020F0502020204030204" pitchFamily="34" charset="0"/>
                        </a:rPr>
                        <a:t>Erfassen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1581781"/>
                  </a:ext>
                </a:extLst>
              </a:tr>
              <a:tr h="334258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  <a:latin typeface="Calibri" panose="020F0502020204030204" pitchFamily="34" charset="0"/>
                        </a:rPr>
                        <a:t>(Rest, Einstellungen)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100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100" dirty="0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5840262"/>
                  </a:ext>
                </a:extLst>
              </a:tr>
            </a:tbl>
          </a:graphicData>
        </a:graphic>
      </p:graphicFrame>
      <p:sp>
        <p:nvSpPr>
          <p:cNvPr id="22" name="Rectangle 5">
            <a:extLst>
              <a:ext uri="{FF2B5EF4-FFF2-40B4-BE49-F238E27FC236}">
                <a16:creationId xmlns:a16="http://schemas.microsoft.com/office/drawing/2014/main" id="{99D9559E-827D-4E4B-BCC8-0F3DBC80A7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8717" y="4367707"/>
            <a:ext cx="827227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ctr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4.Tests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7C606456-C1AA-4828-A64D-B544ACA3F699}"/>
              </a:ext>
            </a:extLst>
          </p:cNvPr>
          <p:cNvSpPr txBox="1"/>
          <p:nvPr/>
        </p:nvSpPr>
        <p:spPr>
          <a:xfrm>
            <a:off x="3993543" y="6253503"/>
            <a:ext cx="6094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de-DE" sz="1800" dirty="0">
                <a:effectLst/>
                <a:latin typeface="Calibri" panose="020F0502020204030204" pitchFamily="34" charset="0"/>
              </a:rPr>
              <a:t>Total:  53std. - 60std.</a:t>
            </a:r>
          </a:p>
        </p:txBody>
      </p:sp>
    </p:spTree>
    <p:extLst>
      <p:ext uri="{BB962C8B-B14F-4D97-AF65-F5344CB8AC3E}">
        <p14:creationId xmlns:p14="http://schemas.microsoft.com/office/powerpoint/2010/main" val="22651237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 dirty="0"/>
              <a:t>Analysen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6FF29C7-C41C-4264-9132-FCBC6A7B1F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269" y="1868555"/>
            <a:ext cx="9601200" cy="4348163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de-DE" dirty="0">
                <a:effectLst/>
                <a:latin typeface="Calibri" panose="020F0502020204030204" pitchFamily="34" charset="0"/>
              </a:rPr>
              <a:t>Risikobetrachtung:</a:t>
            </a:r>
          </a:p>
          <a:p>
            <a:pPr rtl="0" font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>
                <a:effectLst/>
                <a:latin typeface="Calibri" panose="020F0502020204030204" pitchFamily="34" charset="0"/>
              </a:rPr>
              <a:t>Identifikation</a:t>
            </a:r>
          </a:p>
          <a:p>
            <a:pPr marL="742950" lvl="1" indent="-285750" rtl="0" fontAlgn="ctr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de-DE" sz="2000" dirty="0">
                <a:effectLst/>
                <a:latin typeface="Calibri" panose="020F0502020204030204" pitchFamily="34" charset="0"/>
              </a:rPr>
              <a:t>Zeit genügt nicht (kritisch, vorstellbar)</a:t>
            </a:r>
          </a:p>
          <a:p>
            <a:pPr marL="742950" lvl="1" indent="-285750" rtl="0" fontAlgn="ctr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de-DE" sz="2000" dirty="0">
                <a:effectLst/>
                <a:latin typeface="Calibri" panose="020F0502020204030204" pitchFamily="34" charset="0"/>
              </a:rPr>
              <a:t>Nicht genug Funktionen werden implementiert (geringfügig, wahrscheinlich)</a:t>
            </a:r>
          </a:p>
          <a:p>
            <a:pPr marL="742950" lvl="1" indent="-285750" rtl="0" fontAlgn="ctr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de-DE" sz="2000" dirty="0">
                <a:effectLst/>
                <a:latin typeface="Calibri" panose="020F0502020204030204" pitchFamily="34" charset="0"/>
              </a:rPr>
              <a:t>Es werden keine Werbepartner gefunden (unwesentlich, häufig)</a:t>
            </a:r>
          </a:p>
          <a:p>
            <a:pPr marL="742950" lvl="1" indent="-285750" rtl="0" fontAlgn="ctr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de-DE" sz="2000" dirty="0">
                <a:effectLst/>
                <a:latin typeface="Calibri" panose="020F0502020204030204" pitchFamily="34" charset="0"/>
              </a:rPr>
              <a:t>Kunden finden andere ähnliche Apps ansehnlicher / funktioneller (kritisch, häufig)</a:t>
            </a:r>
          </a:p>
          <a:p>
            <a:pPr marL="742950" lvl="1" indent="-285750" rtl="0" fontAlgn="ctr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de-DE" sz="2000" dirty="0">
                <a:effectLst/>
                <a:latin typeface="Calibri" panose="020F0502020204030204" pitchFamily="34" charset="0"/>
              </a:rPr>
              <a:t>Es trainiert niemand mehr zu Hause (katastrophal, unvorstellbar)</a:t>
            </a: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7957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 dirty="0"/>
              <a:t>Projektstruktur</a:t>
            </a:r>
          </a:p>
        </p:txBody>
      </p:sp>
      <p:pic>
        <p:nvPicPr>
          <p:cNvPr id="7" name="Inhaltsplatzhalter 6" descr="Ein Bild, das Text enthält.&#10;&#10;Automatisch generierte Beschreibung">
            <a:extLst>
              <a:ext uri="{FF2B5EF4-FFF2-40B4-BE49-F238E27FC236}">
                <a16:creationId xmlns:a16="http://schemas.microsoft.com/office/drawing/2014/main" id="{72B6B18B-500B-468F-B46D-F170BA40DD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40038" y="1696824"/>
            <a:ext cx="1943021" cy="4798873"/>
          </a:xfrm>
        </p:spPr>
      </p:pic>
      <p:pic>
        <p:nvPicPr>
          <p:cNvPr id="9" name="Grafik 8" descr="Ein Bild, das Text enthält.&#10;&#10;Automatisch generierte Beschreibung">
            <a:extLst>
              <a:ext uri="{FF2B5EF4-FFF2-40B4-BE49-F238E27FC236}">
                <a16:creationId xmlns:a16="http://schemas.microsoft.com/office/drawing/2014/main" id="{9B6DDE8B-DC56-4BCA-B8CE-55ACE67750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005" y="1692108"/>
            <a:ext cx="2428481" cy="4824797"/>
          </a:xfrm>
          <a:prstGeom prst="rect">
            <a:avLst/>
          </a:prstGeom>
        </p:spPr>
      </p:pic>
      <p:pic>
        <p:nvPicPr>
          <p:cNvPr id="11" name="Grafik 10" descr="Ein Bild, das Text, Gedenktafel, Screenshot enthält.&#10;&#10;Automatisch generierte Beschreibung">
            <a:extLst>
              <a:ext uri="{FF2B5EF4-FFF2-40B4-BE49-F238E27FC236}">
                <a16:creationId xmlns:a16="http://schemas.microsoft.com/office/drawing/2014/main" id="{F788F924-6C09-422A-862D-E36C0BEF23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9431" y="1866507"/>
            <a:ext cx="5427991" cy="4629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7415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295400" y="362303"/>
            <a:ext cx="9601200" cy="1069940"/>
          </a:xfrm>
        </p:spPr>
        <p:txBody>
          <a:bodyPr rtlCol="0" anchor="b">
            <a:normAutofit/>
          </a:bodyPr>
          <a:lstStyle/>
          <a:p>
            <a:pPr rtl="0"/>
            <a:r>
              <a:rPr lang="de-DE" dirty="0"/>
              <a:t>Home Screen</a:t>
            </a:r>
          </a:p>
        </p:txBody>
      </p:sp>
      <p:pic>
        <p:nvPicPr>
          <p:cNvPr id="10" name="Inhaltsplatzhalter 9" descr="Ein Bild, das Text enthält.&#10;&#10;Automatisch generierte Beschreibung">
            <a:extLst>
              <a:ext uri="{FF2B5EF4-FFF2-40B4-BE49-F238E27FC236}">
                <a16:creationId xmlns:a16="http://schemas.microsoft.com/office/drawing/2014/main" id="{749F7DEE-0E93-498B-AADE-C4F5B303C64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3128475" y="1828797"/>
            <a:ext cx="4408554" cy="4348163"/>
          </a:xfrm>
          <a:effectLst>
            <a:softEdge rad="0"/>
          </a:effectLst>
        </p:spPr>
      </p:pic>
      <p:pic>
        <p:nvPicPr>
          <p:cNvPr id="8" name="Inhaltsplatzhalter 7" descr="Ein Bild, das Text, Monitor, Bildschirm, Elektronik enthält.&#10;&#10;Automatisch generierte Beschreibung">
            <a:extLst>
              <a:ext uri="{FF2B5EF4-FFF2-40B4-BE49-F238E27FC236}">
                <a16:creationId xmlns:a16="http://schemas.microsoft.com/office/drawing/2014/main" id="{9B5AB8B1-3113-4EF5-BE61-E8228AEDB03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356047" y="1828797"/>
            <a:ext cx="2576286" cy="4348163"/>
          </a:xfrm>
          <a:noFill/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F46F5233-7B16-4847-9674-D98CEBBA3D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8281" y="897273"/>
            <a:ext cx="4543719" cy="4143080"/>
          </a:xfrm>
          <a:prstGeom prst="rect">
            <a:avLst/>
          </a:prstGeom>
          <a:effectLst>
            <a:glow>
              <a:schemeClr val="accent1">
                <a:alpha val="40000"/>
              </a:schemeClr>
            </a:glow>
            <a:softEdge rad="0"/>
          </a:effectLst>
        </p:spPr>
      </p:pic>
      <p:sp>
        <p:nvSpPr>
          <p:cNvPr id="16" name="Textfeld 15">
            <a:extLst>
              <a:ext uri="{FF2B5EF4-FFF2-40B4-BE49-F238E27FC236}">
                <a16:creationId xmlns:a16="http://schemas.microsoft.com/office/drawing/2014/main" id="{286D6157-534E-4A1C-8E89-D02B6CF618B3}"/>
              </a:ext>
            </a:extLst>
          </p:cNvPr>
          <p:cNvSpPr txBox="1"/>
          <p:nvPr/>
        </p:nvSpPr>
        <p:spPr>
          <a:xfrm>
            <a:off x="4269850" y="1432243"/>
            <a:ext cx="61225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srgbClr val="07CB98"/>
                </a:solidFill>
                <a:effectLst/>
                <a:uLnTx/>
                <a:uFillTx/>
                <a:latin typeface="Georgia"/>
                <a:ea typeface="+mj-ea"/>
                <a:cs typeface="+mj-cs"/>
              </a:rPr>
              <a:t>Home Fragment</a:t>
            </a:r>
            <a:endParaRPr lang="de-DE" sz="1100" dirty="0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EAE0203F-687F-4996-AAEB-45B161E75F47}"/>
              </a:ext>
            </a:extLst>
          </p:cNvPr>
          <p:cNvSpPr txBox="1"/>
          <p:nvPr/>
        </p:nvSpPr>
        <p:spPr>
          <a:xfrm>
            <a:off x="8774701" y="5205991"/>
            <a:ext cx="61225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srgbClr val="07CB98"/>
                </a:solidFill>
                <a:effectLst/>
                <a:uLnTx/>
                <a:uFillTx/>
                <a:latin typeface="Georgia"/>
                <a:ea typeface="+mj-ea"/>
                <a:cs typeface="+mj-cs"/>
              </a:rPr>
              <a:t>Home Fragment XML</a:t>
            </a:r>
            <a:endParaRPr lang="de-DE" sz="1100" dirty="0"/>
          </a:p>
        </p:txBody>
      </p:sp>
    </p:spTree>
    <p:extLst>
      <p:ext uri="{BB962C8B-B14F-4D97-AF65-F5344CB8AC3E}">
        <p14:creationId xmlns:p14="http://schemas.microsoft.com/office/powerpoint/2010/main" val="762081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 dirty="0"/>
              <a:t>Settings Screen</a:t>
            </a:r>
          </a:p>
        </p:txBody>
      </p:sp>
      <p:pic>
        <p:nvPicPr>
          <p:cNvPr id="3" name="Inhaltsplatzhalter 2" descr="Ein Bild, das Text, Screenshot, Elektronik, Bildschirm enthält.&#10;&#10;Automatisch generierte Beschreibung">
            <a:extLst>
              <a:ext uri="{FF2B5EF4-FFF2-40B4-BE49-F238E27FC236}">
                <a16:creationId xmlns:a16="http://schemas.microsoft.com/office/drawing/2014/main" id="{9F205F7E-4427-437A-A791-03CD61B3D2A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39218" y="1955303"/>
            <a:ext cx="2541310" cy="4390147"/>
          </a:xfrm>
        </p:spPr>
      </p:pic>
      <p:pic>
        <p:nvPicPr>
          <p:cNvPr id="5" name="Grafik 4" descr="Ein Bild, das Text enthält.&#10;&#10;Automatisch generierte Beschreibung">
            <a:extLst>
              <a:ext uri="{FF2B5EF4-FFF2-40B4-BE49-F238E27FC236}">
                <a16:creationId xmlns:a16="http://schemas.microsoft.com/office/drawing/2014/main" id="{28D51B35-8E83-4CF6-964D-2830250B0D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2954" y="1955303"/>
            <a:ext cx="5163003" cy="4390147"/>
          </a:xfrm>
          <a:prstGeom prst="rect">
            <a:avLst/>
          </a:prstGeom>
        </p:spPr>
      </p:pic>
      <p:pic>
        <p:nvPicPr>
          <p:cNvPr id="7" name="Grafik 6" descr="Ein Bild, das Text enthält.&#10;&#10;Automatisch generierte Beschreibung">
            <a:extLst>
              <a:ext uri="{FF2B5EF4-FFF2-40B4-BE49-F238E27FC236}">
                <a16:creationId xmlns:a16="http://schemas.microsoft.com/office/drawing/2014/main" id="{2D108A9C-68A2-410B-AB9F-1E8717F75E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5140" y="239586"/>
            <a:ext cx="4400420" cy="1538011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F0585960-190A-4A2B-B306-0EA1C6C1E134}"/>
              </a:ext>
            </a:extLst>
          </p:cNvPr>
          <p:cNvSpPr txBox="1"/>
          <p:nvPr/>
        </p:nvSpPr>
        <p:spPr>
          <a:xfrm>
            <a:off x="4892019" y="1530982"/>
            <a:ext cx="61225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srgbClr val="07CB98"/>
                </a:solidFill>
                <a:effectLst/>
                <a:uLnTx/>
                <a:uFillTx/>
                <a:latin typeface="Georgia"/>
                <a:ea typeface="+mj-ea"/>
                <a:cs typeface="+mj-cs"/>
              </a:rPr>
              <a:t>Preferences XML</a:t>
            </a:r>
            <a:endParaRPr lang="de-DE" sz="1100" dirty="0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F1A474EA-CD33-4069-8AAC-9F212BB608C4}"/>
              </a:ext>
            </a:extLst>
          </p:cNvPr>
          <p:cNvSpPr txBox="1"/>
          <p:nvPr/>
        </p:nvSpPr>
        <p:spPr>
          <a:xfrm>
            <a:off x="9379177" y="1853830"/>
            <a:ext cx="61225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srgbClr val="07CB98"/>
                </a:solidFill>
                <a:effectLst/>
                <a:uLnTx/>
                <a:uFillTx/>
                <a:latin typeface="Georgia"/>
                <a:ea typeface="+mj-ea"/>
                <a:cs typeface="+mj-cs"/>
              </a:rPr>
              <a:t>Preferences Fragment</a:t>
            </a:r>
            <a:endParaRPr lang="de-DE" sz="1100" dirty="0"/>
          </a:p>
        </p:txBody>
      </p:sp>
    </p:spTree>
    <p:extLst>
      <p:ext uri="{BB962C8B-B14F-4D97-AF65-F5344CB8AC3E}">
        <p14:creationId xmlns:p14="http://schemas.microsoft.com/office/powerpoint/2010/main" val="1428607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 dirty="0"/>
              <a:t>Exercises Screen</a:t>
            </a:r>
          </a:p>
        </p:txBody>
      </p:sp>
      <p:pic>
        <p:nvPicPr>
          <p:cNvPr id="3" name="Inhaltsplatzhalter 2">
            <a:extLst>
              <a:ext uri="{FF2B5EF4-FFF2-40B4-BE49-F238E27FC236}">
                <a16:creationId xmlns:a16="http://schemas.microsoft.com/office/drawing/2014/main" id="{0CD45EE8-F695-490E-AD67-D42F7B006B0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29571" y="1838789"/>
            <a:ext cx="2469331" cy="4223857"/>
          </a:xfrm>
        </p:spPr>
      </p:pic>
      <p:pic>
        <p:nvPicPr>
          <p:cNvPr id="9" name="Grafik 8" descr="Ein Bild, das Text enthält.&#10;&#10;Automatisch generierte Beschreibung">
            <a:extLst>
              <a:ext uri="{FF2B5EF4-FFF2-40B4-BE49-F238E27FC236}">
                <a16:creationId xmlns:a16="http://schemas.microsoft.com/office/drawing/2014/main" id="{89F93D9F-4FE0-4EF8-B671-8577DF1A17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1516" y="1824874"/>
            <a:ext cx="4640584" cy="4223857"/>
          </a:xfrm>
          <a:prstGeom prst="rect">
            <a:avLst/>
          </a:prstGeom>
        </p:spPr>
      </p:pic>
      <p:pic>
        <p:nvPicPr>
          <p:cNvPr id="11" name="Grafik 10" descr="Ein Bild, das Text enthält.&#10;&#10;Automatisch generierte Beschreibung">
            <a:extLst>
              <a:ext uri="{FF2B5EF4-FFF2-40B4-BE49-F238E27FC236}">
                <a16:creationId xmlns:a16="http://schemas.microsoft.com/office/drawing/2014/main" id="{C0F0DF1B-08B8-4D7A-94F9-55F24A8D79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5634" y="1566406"/>
            <a:ext cx="4307238" cy="4496239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2C466FDF-FF61-4A2C-AA77-17EA9FAFE22B}"/>
              </a:ext>
            </a:extLst>
          </p:cNvPr>
          <p:cNvSpPr txBox="1"/>
          <p:nvPr/>
        </p:nvSpPr>
        <p:spPr>
          <a:xfrm>
            <a:off x="4469264" y="1484499"/>
            <a:ext cx="33554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07CB98"/>
                </a:solidFill>
                <a:effectLst/>
                <a:uLnTx/>
                <a:uFillTx/>
                <a:latin typeface="Georgia"/>
                <a:ea typeface="+mj-ea"/>
                <a:cs typeface="+mj-cs"/>
              </a:rPr>
              <a:t>Exercises Fragment</a:t>
            </a:r>
            <a:endParaRPr lang="de-DE" sz="1050" dirty="0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84C5998E-BA77-47D5-A1B2-8F4C4BAE9B1B}"/>
              </a:ext>
            </a:extLst>
          </p:cNvPr>
          <p:cNvSpPr txBox="1"/>
          <p:nvPr/>
        </p:nvSpPr>
        <p:spPr>
          <a:xfrm>
            <a:off x="8831433" y="1093689"/>
            <a:ext cx="439707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de-DE" sz="1600" b="0" i="0" u="none" strike="noStrike" kern="1200" cap="none" spc="0" normalizeH="0" baseline="0" noProof="0" dirty="0">
                <a:ln>
                  <a:noFill/>
                </a:ln>
                <a:solidFill>
                  <a:srgbClr val="07CB98"/>
                </a:solidFill>
                <a:effectLst/>
                <a:uLnTx/>
                <a:uFillTx/>
                <a:latin typeface="Georgia"/>
                <a:ea typeface="+mj-ea"/>
                <a:cs typeface="+mj-cs"/>
              </a:rPr>
              <a:t>Exercise List Adapter</a:t>
            </a:r>
            <a:endParaRPr lang="de-DE" sz="1050" dirty="0"/>
          </a:p>
        </p:txBody>
      </p:sp>
    </p:spTree>
    <p:extLst>
      <p:ext uri="{BB962C8B-B14F-4D97-AF65-F5344CB8AC3E}">
        <p14:creationId xmlns:p14="http://schemas.microsoft.com/office/powerpoint/2010/main" val="42541134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 dirty="0"/>
              <a:t>Exercises Screen Pt.2</a:t>
            </a:r>
          </a:p>
        </p:txBody>
      </p:sp>
      <p:pic>
        <p:nvPicPr>
          <p:cNvPr id="4" name="Grafik 3" descr="Ein Bild, das Text enthält.&#10;&#10;Automatisch generierte Beschreibung">
            <a:extLst>
              <a:ext uri="{FF2B5EF4-FFF2-40B4-BE49-F238E27FC236}">
                <a16:creationId xmlns:a16="http://schemas.microsoft.com/office/drawing/2014/main" id="{9A5ED773-DD5D-42CD-ABF6-F6311219C6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941" y="1951471"/>
            <a:ext cx="3276614" cy="4679398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273AA065-D398-4BF0-8A87-20CDC6539E09}"/>
              </a:ext>
            </a:extLst>
          </p:cNvPr>
          <p:cNvSpPr txBox="1"/>
          <p:nvPr/>
        </p:nvSpPr>
        <p:spPr>
          <a:xfrm>
            <a:off x="916389" y="1582139"/>
            <a:ext cx="6094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srgbClr val="07CB98"/>
                </a:solidFill>
                <a:effectLst/>
                <a:uLnTx/>
                <a:uFillTx/>
                <a:latin typeface="Georgia"/>
                <a:ea typeface="+mj-ea"/>
                <a:cs typeface="+mj-cs"/>
              </a:rPr>
              <a:t>Exercise Data class</a:t>
            </a:r>
            <a:endParaRPr lang="de-DE" sz="1100" dirty="0"/>
          </a:p>
        </p:txBody>
      </p:sp>
      <p:pic>
        <p:nvPicPr>
          <p:cNvPr id="11" name="Grafik 10" descr="Ein Bild, das Text enthält.&#10;&#10;Automatisch generierte Beschreibung">
            <a:extLst>
              <a:ext uri="{FF2B5EF4-FFF2-40B4-BE49-F238E27FC236}">
                <a16:creationId xmlns:a16="http://schemas.microsoft.com/office/drawing/2014/main" id="{B70B866A-6649-43C5-8160-D3CEC743A9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6788" y="1835946"/>
            <a:ext cx="6744595" cy="4910449"/>
          </a:xfrm>
          <a:prstGeom prst="rect">
            <a:avLst/>
          </a:prstGeom>
        </p:spPr>
      </p:pic>
      <p:sp>
        <p:nvSpPr>
          <p:cNvPr id="16" name="Textfeld 15">
            <a:extLst>
              <a:ext uri="{FF2B5EF4-FFF2-40B4-BE49-F238E27FC236}">
                <a16:creationId xmlns:a16="http://schemas.microsoft.com/office/drawing/2014/main" id="{DBAE5C4C-CF31-47A5-9503-DB05FF24D537}"/>
              </a:ext>
            </a:extLst>
          </p:cNvPr>
          <p:cNvSpPr txBox="1"/>
          <p:nvPr/>
        </p:nvSpPr>
        <p:spPr>
          <a:xfrm>
            <a:off x="5826982" y="1425300"/>
            <a:ext cx="6094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srgbClr val="07CB98"/>
                </a:solidFill>
                <a:effectLst/>
                <a:uLnTx/>
                <a:uFillTx/>
                <a:latin typeface="Georgia"/>
                <a:ea typeface="+mj-ea"/>
                <a:cs typeface="+mj-cs"/>
              </a:rPr>
              <a:t>Exercises Fragment XML</a:t>
            </a:r>
            <a:endParaRPr lang="de-DE" sz="1100" dirty="0"/>
          </a:p>
        </p:txBody>
      </p:sp>
    </p:spTree>
    <p:extLst>
      <p:ext uri="{BB962C8B-B14F-4D97-AF65-F5344CB8AC3E}">
        <p14:creationId xmlns:p14="http://schemas.microsoft.com/office/powerpoint/2010/main" val="42236303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 dirty="0"/>
              <a:t>Edit Screen</a:t>
            </a:r>
          </a:p>
        </p:txBody>
      </p:sp>
      <p:pic>
        <p:nvPicPr>
          <p:cNvPr id="3" name="Grafik 2" descr="Ein Bild, das Text, Screenshot, Bildschirm enthält.&#10;&#10;Automatisch generierte Beschreibung">
            <a:extLst>
              <a:ext uri="{FF2B5EF4-FFF2-40B4-BE49-F238E27FC236}">
                <a16:creationId xmlns:a16="http://schemas.microsoft.com/office/drawing/2014/main" id="{3AAE66A8-0894-4110-A8F8-F76233E8B0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195" y="1432243"/>
            <a:ext cx="2967207" cy="5202450"/>
          </a:xfrm>
          <a:prstGeom prst="rect">
            <a:avLst/>
          </a:prstGeom>
        </p:spPr>
      </p:pic>
      <p:pic>
        <p:nvPicPr>
          <p:cNvPr id="6" name="Grafik 5" descr="Ein Bild, das Text enthält.&#10;&#10;Automatisch generierte Beschreibung">
            <a:extLst>
              <a:ext uri="{FF2B5EF4-FFF2-40B4-BE49-F238E27FC236}">
                <a16:creationId xmlns:a16="http://schemas.microsoft.com/office/drawing/2014/main" id="{970A9D0F-6FEA-4CFE-9588-E5D6B993E9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1776" y="1967686"/>
            <a:ext cx="6297111" cy="4607524"/>
          </a:xfrm>
          <a:prstGeom prst="rect">
            <a:avLst/>
          </a:prstGeom>
        </p:spPr>
      </p:pic>
      <p:pic>
        <p:nvPicPr>
          <p:cNvPr id="9" name="Grafik 8" descr="Ein Bild, das Text enthält.&#10;&#10;Automatisch generierte Beschreibung">
            <a:extLst>
              <a:ext uri="{FF2B5EF4-FFF2-40B4-BE49-F238E27FC236}">
                <a16:creationId xmlns:a16="http://schemas.microsoft.com/office/drawing/2014/main" id="{B5BEEB59-0FF4-4E6E-A1CF-EE8A4994EB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0477" y="79514"/>
            <a:ext cx="3907675" cy="2154803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3C661173-21BF-4DAF-8077-84AB7247AD01}"/>
              </a:ext>
            </a:extLst>
          </p:cNvPr>
          <p:cNvSpPr txBox="1"/>
          <p:nvPr/>
        </p:nvSpPr>
        <p:spPr>
          <a:xfrm>
            <a:off x="5153140" y="1515298"/>
            <a:ext cx="6094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srgbClr val="07CB98"/>
                </a:solidFill>
                <a:effectLst/>
                <a:uLnTx/>
                <a:uFillTx/>
                <a:latin typeface="Georgia"/>
                <a:ea typeface="+mj-ea"/>
                <a:cs typeface="+mj-cs"/>
              </a:rPr>
              <a:t>Edit Fragment XML</a:t>
            </a:r>
            <a:endParaRPr lang="de-DE" sz="1100" dirty="0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509E6274-79FF-4E7C-8857-3E5626BC42A0}"/>
              </a:ext>
            </a:extLst>
          </p:cNvPr>
          <p:cNvSpPr txBox="1"/>
          <p:nvPr/>
        </p:nvSpPr>
        <p:spPr>
          <a:xfrm>
            <a:off x="10744671" y="2317372"/>
            <a:ext cx="144732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srgbClr val="07CB98"/>
                </a:solidFill>
                <a:effectLst/>
                <a:uLnTx/>
                <a:uFillTx/>
                <a:latin typeface="Georgia"/>
                <a:ea typeface="+mj-ea"/>
                <a:cs typeface="+mj-cs"/>
              </a:rPr>
              <a:t>Edit Fragment</a:t>
            </a:r>
          </a:p>
          <a:p>
            <a:r>
              <a:rPr lang="de-DE" dirty="0" err="1">
                <a:solidFill>
                  <a:srgbClr val="07CB98"/>
                </a:solidFill>
                <a:latin typeface="Georgia"/>
                <a:ea typeface="+mj-ea"/>
                <a:cs typeface="+mj-cs"/>
              </a:rPr>
              <a:t>onSave</a:t>
            </a:r>
            <a:endParaRPr lang="de-DE" sz="1100" dirty="0"/>
          </a:p>
        </p:txBody>
      </p:sp>
    </p:spTree>
    <p:extLst>
      <p:ext uri="{BB962C8B-B14F-4D97-AF65-F5344CB8AC3E}">
        <p14:creationId xmlns:p14="http://schemas.microsoft.com/office/powerpoint/2010/main" val="19412748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 dirty="0"/>
              <a:t>Training Screen</a:t>
            </a:r>
          </a:p>
        </p:txBody>
      </p:sp>
      <p:pic>
        <p:nvPicPr>
          <p:cNvPr id="3" name="Inhaltsplatzhalter 2" descr="Ein Bild, das Text, Elektronik, Screenshot, Anzeige enthält.&#10;&#10;Automatisch generierte Beschreibung">
            <a:extLst>
              <a:ext uri="{FF2B5EF4-FFF2-40B4-BE49-F238E27FC236}">
                <a16:creationId xmlns:a16="http://schemas.microsoft.com/office/drawing/2014/main" id="{53C378D2-7628-4146-A038-F8DC2540B48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330927" y="1842730"/>
            <a:ext cx="2699002" cy="4652967"/>
          </a:xfrm>
        </p:spPr>
      </p:pic>
      <p:pic>
        <p:nvPicPr>
          <p:cNvPr id="5" name="Grafik 4" descr="Ein Bild, das Text enthält.&#10;&#10;Automatisch generierte Beschreibung">
            <a:extLst>
              <a:ext uri="{FF2B5EF4-FFF2-40B4-BE49-F238E27FC236}">
                <a16:creationId xmlns:a16="http://schemas.microsoft.com/office/drawing/2014/main" id="{2E79AA8D-5830-4954-A2CC-3D3076EF06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6998" y="1842730"/>
            <a:ext cx="2699002" cy="4654183"/>
          </a:xfrm>
          <a:prstGeom prst="rect">
            <a:avLst/>
          </a:prstGeom>
        </p:spPr>
      </p:pic>
      <p:pic>
        <p:nvPicPr>
          <p:cNvPr id="9" name="Grafik 8" descr="Ein Bild, das Text enthält.&#10;&#10;Automatisch generierte Beschreibung">
            <a:extLst>
              <a:ext uri="{FF2B5EF4-FFF2-40B4-BE49-F238E27FC236}">
                <a16:creationId xmlns:a16="http://schemas.microsoft.com/office/drawing/2014/main" id="{E2EF9DCC-B244-4805-BBEC-A50827C8CA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3069" y="2278332"/>
            <a:ext cx="5271353" cy="3781762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B89983F2-C88B-4201-BEA9-F302FB34F409}"/>
              </a:ext>
            </a:extLst>
          </p:cNvPr>
          <p:cNvSpPr txBox="1"/>
          <p:nvPr/>
        </p:nvSpPr>
        <p:spPr>
          <a:xfrm>
            <a:off x="8158039" y="1842730"/>
            <a:ext cx="61225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srgbClr val="07CB98"/>
                </a:solidFill>
                <a:effectLst/>
                <a:uLnTx/>
                <a:uFillTx/>
                <a:latin typeface="Georgia"/>
                <a:ea typeface="+mj-ea"/>
                <a:cs typeface="+mj-cs"/>
              </a:rPr>
              <a:t>Training Fragment</a:t>
            </a:r>
            <a:endParaRPr lang="de-DE" sz="1100" dirty="0"/>
          </a:p>
        </p:txBody>
      </p:sp>
    </p:spTree>
    <p:extLst>
      <p:ext uri="{BB962C8B-B14F-4D97-AF65-F5344CB8AC3E}">
        <p14:creationId xmlns:p14="http://schemas.microsoft.com/office/powerpoint/2010/main" val="17216433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 dirty="0"/>
              <a:t>Calendar Screen</a:t>
            </a:r>
          </a:p>
        </p:txBody>
      </p:sp>
      <p:pic>
        <p:nvPicPr>
          <p:cNvPr id="7" name="Inhaltsplatzhalter 6" descr="Ein Bild, das Text, Screenshot, Bildschirm enthält.&#10;&#10;Automatisch generierte Beschreibung">
            <a:extLst>
              <a:ext uri="{FF2B5EF4-FFF2-40B4-BE49-F238E27FC236}">
                <a16:creationId xmlns:a16="http://schemas.microsoft.com/office/drawing/2014/main" id="{CAC610D8-FD58-4682-9429-8F8414B5A64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92071" y="1932167"/>
            <a:ext cx="2729289" cy="4702443"/>
          </a:xfrm>
        </p:spPr>
      </p:pic>
      <p:pic>
        <p:nvPicPr>
          <p:cNvPr id="10" name="Grafik 9" descr="Ein Bild, das Text, Monitor, Bildschirm, schwarz enthält.&#10;&#10;Automatisch generierte Beschreibung">
            <a:extLst>
              <a:ext uri="{FF2B5EF4-FFF2-40B4-BE49-F238E27FC236}">
                <a16:creationId xmlns:a16="http://schemas.microsoft.com/office/drawing/2014/main" id="{C4CBB851-35CA-41A4-8C72-ED566A3DCD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7700" y="1800894"/>
            <a:ext cx="2729289" cy="4833716"/>
          </a:xfrm>
          <a:prstGeom prst="rect">
            <a:avLst/>
          </a:prstGeom>
        </p:spPr>
      </p:pic>
      <p:pic>
        <p:nvPicPr>
          <p:cNvPr id="13" name="Grafik 12" descr="Ein Bild, das Text enthält.&#10;&#10;Automatisch generierte Beschreibung">
            <a:extLst>
              <a:ext uri="{FF2B5EF4-FFF2-40B4-BE49-F238E27FC236}">
                <a16:creationId xmlns:a16="http://schemas.microsoft.com/office/drawing/2014/main" id="{0A960C4E-D07C-4EDB-BE32-BD9978BE4EA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15228"/>
          <a:stretch/>
        </p:blipFill>
        <p:spPr>
          <a:xfrm>
            <a:off x="6576219" y="2704137"/>
            <a:ext cx="5306508" cy="3174680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EBEAAB22-B70B-4A9A-887D-339C6863E205}"/>
              </a:ext>
            </a:extLst>
          </p:cNvPr>
          <p:cNvSpPr txBox="1"/>
          <p:nvPr/>
        </p:nvSpPr>
        <p:spPr>
          <a:xfrm>
            <a:off x="8340918" y="2227374"/>
            <a:ext cx="61225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srgbClr val="07CB98"/>
                </a:solidFill>
                <a:effectLst/>
                <a:uLnTx/>
                <a:uFillTx/>
                <a:latin typeface="Georgia"/>
                <a:ea typeface="+mj-ea"/>
                <a:cs typeface="+mj-cs"/>
              </a:rPr>
              <a:t>Calendar Fragment</a:t>
            </a:r>
            <a:endParaRPr lang="de-DE" sz="1100" dirty="0"/>
          </a:p>
        </p:txBody>
      </p:sp>
    </p:spTree>
    <p:extLst>
      <p:ext uri="{BB962C8B-B14F-4D97-AF65-F5344CB8AC3E}">
        <p14:creationId xmlns:p14="http://schemas.microsoft.com/office/powerpoint/2010/main" val="1465037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 dirty="0"/>
              <a:t>Navigation</a:t>
            </a:r>
          </a:p>
        </p:txBody>
      </p:sp>
      <p:pic>
        <p:nvPicPr>
          <p:cNvPr id="3" name="Inhaltsplatzhalter 2">
            <a:extLst>
              <a:ext uri="{FF2B5EF4-FFF2-40B4-BE49-F238E27FC236}">
                <a16:creationId xmlns:a16="http://schemas.microsoft.com/office/drawing/2014/main" id="{3E3D942B-994F-4C50-9051-F07CE7C46AC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902840" y="1646236"/>
            <a:ext cx="3273234" cy="4849461"/>
          </a:xfrm>
        </p:spPr>
      </p:pic>
      <p:pic>
        <p:nvPicPr>
          <p:cNvPr id="5" name="Grafik 4" descr="Ein Bild, das Text enthält.&#10;&#10;Automatisch generierte Beschreibung">
            <a:extLst>
              <a:ext uri="{FF2B5EF4-FFF2-40B4-BE49-F238E27FC236}">
                <a16:creationId xmlns:a16="http://schemas.microsoft.com/office/drawing/2014/main" id="{0FA65E25-83C3-4733-8ADA-B3D9CDAEE3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4919" y="1646236"/>
            <a:ext cx="6236153" cy="4849461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0B206044-DD8D-430E-83D9-6EF2921C56B7}"/>
              </a:ext>
            </a:extLst>
          </p:cNvPr>
          <p:cNvSpPr txBox="1"/>
          <p:nvPr/>
        </p:nvSpPr>
        <p:spPr>
          <a:xfrm>
            <a:off x="7195930" y="1169908"/>
            <a:ext cx="61225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srgbClr val="07CB98"/>
                </a:solidFill>
                <a:effectLst/>
                <a:uLnTx/>
                <a:uFillTx/>
                <a:latin typeface="Georgia"/>
                <a:ea typeface="+mj-ea"/>
                <a:cs typeface="+mj-cs"/>
              </a:rPr>
              <a:t>Main Activity</a:t>
            </a:r>
            <a:endParaRPr lang="de-DE" sz="1100" dirty="0"/>
          </a:p>
        </p:txBody>
      </p:sp>
    </p:spTree>
    <p:extLst>
      <p:ext uri="{BB962C8B-B14F-4D97-AF65-F5344CB8AC3E}">
        <p14:creationId xmlns:p14="http://schemas.microsoft.com/office/powerpoint/2010/main" val="29873565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 dirty="0"/>
              <a:t>Koin – Dependency Injection</a:t>
            </a:r>
          </a:p>
        </p:txBody>
      </p:sp>
      <p:pic>
        <p:nvPicPr>
          <p:cNvPr id="3" name="Inhaltsplatzhalter 2" descr="Ein Bild, das Text, Gedenktafel, Screenshot enthält.&#10;&#10;Automatisch generierte Beschreibung">
            <a:extLst>
              <a:ext uri="{FF2B5EF4-FFF2-40B4-BE49-F238E27FC236}">
                <a16:creationId xmlns:a16="http://schemas.microsoft.com/office/drawing/2014/main" id="{81EC0461-7ED0-4E79-8340-2A5CDF59791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02162" y="2036190"/>
            <a:ext cx="4402149" cy="4459507"/>
          </a:xfrm>
        </p:spPr>
      </p:pic>
      <p:pic>
        <p:nvPicPr>
          <p:cNvPr id="5" name="Grafik 4" descr="Ein Bild, das Text enthält.&#10;&#10;Automatisch generierte Beschreibung">
            <a:extLst>
              <a:ext uri="{FF2B5EF4-FFF2-40B4-BE49-F238E27FC236}">
                <a16:creationId xmlns:a16="http://schemas.microsoft.com/office/drawing/2014/main" id="{AA7DA8D9-DA9D-47DA-8BE3-6A9EC4C867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7900" y="2793523"/>
            <a:ext cx="5414182" cy="2944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9324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 dirty="0"/>
              <a:t>Remote Source / Repositories</a:t>
            </a:r>
          </a:p>
        </p:txBody>
      </p:sp>
      <p:pic>
        <p:nvPicPr>
          <p:cNvPr id="3" name="Inhaltsplatzhalter 2" descr="Ein Bild, das Text enthält.&#10;&#10;Automatisch generierte Beschreibung">
            <a:extLst>
              <a:ext uri="{FF2B5EF4-FFF2-40B4-BE49-F238E27FC236}">
                <a16:creationId xmlns:a16="http://schemas.microsoft.com/office/drawing/2014/main" id="{4C65D71B-83EE-4B78-98A4-0270D1962A1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192642" y="2302391"/>
            <a:ext cx="3498023" cy="4384675"/>
          </a:xfrm>
        </p:spPr>
      </p:pic>
      <p:pic>
        <p:nvPicPr>
          <p:cNvPr id="5" name="Grafik 4" descr="Ein Bild, das Text enthält.&#10;&#10;Automatisch generierte Beschreibung">
            <a:extLst>
              <a:ext uri="{FF2B5EF4-FFF2-40B4-BE49-F238E27FC236}">
                <a16:creationId xmlns:a16="http://schemas.microsoft.com/office/drawing/2014/main" id="{9A7E2CFF-B25A-4C98-A5CF-D834FA96EF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4148" y="2297371"/>
            <a:ext cx="3642623" cy="4389695"/>
          </a:xfrm>
          <a:prstGeom prst="rect">
            <a:avLst/>
          </a:prstGeom>
        </p:spPr>
      </p:pic>
      <p:pic>
        <p:nvPicPr>
          <p:cNvPr id="7" name="Grafik 6" descr="Ein Bild, das Text enthält.&#10;&#10;Automatisch generierte Beschreibung">
            <a:extLst>
              <a:ext uri="{FF2B5EF4-FFF2-40B4-BE49-F238E27FC236}">
                <a16:creationId xmlns:a16="http://schemas.microsoft.com/office/drawing/2014/main" id="{A2E8F0E0-A9CC-4D0D-B1EC-DA5F771B97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0254" y="2611570"/>
            <a:ext cx="4290663" cy="3761295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33ECC1E3-23A6-4EEE-A3D6-DE661EB621B0}"/>
              </a:ext>
            </a:extLst>
          </p:cNvPr>
          <p:cNvSpPr txBox="1"/>
          <p:nvPr/>
        </p:nvSpPr>
        <p:spPr>
          <a:xfrm>
            <a:off x="954156" y="1862102"/>
            <a:ext cx="61225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solidFill>
                  <a:srgbClr val="07CB98"/>
                </a:solidFill>
                <a:latin typeface="Georgia"/>
                <a:ea typeface="+mj-ea"/>
                <a:cs typeface="+mj-cs"/>
              </a:rPr>
              <a:t>Local Repository</a:t>
            </a:r>
            <a:endParaRPr lang="de-DE" sz="1100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6AE53DB5-9C53-4318-99DF-B1A0CE80A397}"/>
              </a:ext>
            </a:extLst>
          </p:cNvPr>
          <p:cNvSpPr txBox="1"/>
          <p:nvPr/>
        </p:nvSpPr>
        <p:spPr>
          <a:xfrm>
            <a:off x="4774096" y="1862102"/>
            <a:ext cx="61225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srgbClr val="07CB98"/>
                </a:solidFill>
                <a:effectLst/>
                <a:uLnTx/>
                <a:uFillTx/>
                <a:latin typeface="Georgia"/>
                <a:ea typeface="+mj-ea"/>
                <a:cs typeface="+mj-cs"/>
              </a:rPr>
              <a:t>Remote Source</a:t>
            </a:r>
            <a:endParaRPr lang="de-DE" sz="1100" dirty="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104198AC-4360-43DC-9DA3-A465CE633517}"/>
              </a:ext>
            </a:extLst>
          </p:cNvPr>
          <p:cNvSpPr txBox="1"/>
          <p:nvPr/>
        </p:nvSpPr>
        <p:spPr>
          <a:xfrm>
            <a:off x="8969665" y="2112705"/>
            <a:ext cx="61225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srgbClr val="07CB98"/>
                </a:solidFill>
                <a:effectLst/>
                <a:uLnTx/>
                <a:uFillTx/>
                <a:latin typeface="Georgia"/>
                <a:ea typeface="+mj-ea"/>
                <a:cs typeface="+mj-cs"/>
              </a:rPr>
              <a:t>Remote Source</a:t>
            </a:r>
            <a:endParaRPr lang="de-DE" sz="1100" dirty="0"/>
          </a:p>
        </p:txBody>
      </p:sp>
    </p:spTree>
    <p:extLst>
      <p:ext uri="{BB962C8B-B14F-4D97-AF65-F5344CB8AC3E}">
        <p14:creationId xmlns:p14="http://schemas.microsoft.com/office/powerpoint/2010/main" val="1421004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 dirty="0"/>
              <a:t>‚Was schief gelaufen ist‘</a:t>
            </a:r>
          </a:p>
        </p:txBody>
      </p:sp>
      <p:pic>
        <p:nvPicPr>
          <p:cNvPr id="3" name="Grafik 2" descr="Ein Bild, das Text enthält.&#10;&#10;Automatisch generierte Beschreibung">
            <a:extLst>
              <a:ext uri="{FF2B5EF4-FFF2-40B4-BE49-F238E27FC236}">
                <a16:creationId xmlns:a16="http://schemas.microsoft.com/office/drawing/2014/main" id="{3566E6AA-3EAA-4DA9-BBD9-BDAB04D543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7631" y="3194574"/>
            <a:ext cx="6308596" cy="2488005"/>
          </a:xfrm>
          <a:prstGeom prst="rect">
            <a:avLst/>
          </a:prstGeom>
        </p:spPr>
      </p:pic>
      <p:pic>
        <p:nvPicPr>
          <p:cNvPr id="6" name="Grafik 5" descr="Ein Bild, das Text enthält.&#10;&#10;Automatisch generierte Beschreibung">
            <a:extLst>
              <a:ext uri="{FF2B5EF4-FFF2-40B4-BE49-F238E27FC236}">
                <a16:creationId xmlns:a16="http://schemas.microsoft.com/office/drawing/2014/main" id="{B9FDCBA1-5C1F-4086-9569-9E3E287C32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5012" y="362303"/>
            <a:ext cx="4012919" cy="2336444"/>
          </a:xfrm>
          <a:prstGeom prst="rect">
            <a:avLst/>
          </a:prstGeom>
        </p:spPr>
      </p:pic>
      <p:pic>
        <p:nvPicPr>
          <p:cNvPr id="8" name="Grafik 7" descr="Ein Bild, das Text enthält.&#10;&#10;Automatisch generierte Beschreibung">
            <a:extLst>
              <a:ext uri="{FF2B5EF4-FFF2-40B4-BE49-F238E27FC236}">
                <a16:creationId xmlns:a16="http://schemas.microsoft.com/office/drawing/2014/main" id="{F43F8100-950C-410D-82BB-A2163F9D1E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926" y="2467276"/>
            <a:ext cx="4423737" cy="3945973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A22D4450-BA0D-437D-B7FA-62C3E4DAE6F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-10247" t="1165" r="10247" b="-1165"/>
          <a:stretch/>
        </p:blipFill>
        <p:spPr>
          <a:xfrm>
            <a:off x="4301655" y="5791875"/>
            <a:ext cx="7744572" cy="617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355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722782" y="2335695"/>
            <a:ext cx="8746435" cy="2186609"/>
          </a:xfrm>
        </p:spPr>
        <p:txBody>
          <a:bodyPr rtlCol="0">
            <a:normAutofit/>
          </a:bodyPr>
          <a:lstStyle/>
          <a:p>
            <a:pPr algn="ctr" rtl="0"/>
            <a:r>
              <a:rPr lang="de-DE" sz="7200" dirty="0"/>
              <a:t>Vielen Dank für Ihre Aufmerksamkeit!</a:t>
            </a:r>
          </a:p>
        </p:txBody>
      </p:sp>
    </p:spTree>
    <p:extLst>
      <p:ext uri="{BB962C8B-B14F-4D97-AF65-F5344CB8AC3E}">
        <p14:creationId xmlns:p14="http://schemas.microsoft.com/office/powerpoint/2010/main" val="23852037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Gebürstetes Metall 16 : 9">
  <a:themeElements>
    <a:clrScheme name="BrushedMetal">
      <a:dk1>
        <a:sysClr val="windowText" lastClr="000000"/>
      </a:dk1>
      <a:lt1>
        <a:sysClr val="window" lastClr="FFFFFF"/>
      </a:lt1>
      <a:dk2>
        <a:srgbClr val="2F333A"/>
      </a:dk2>
      <a:lt2>
        <a:srgbClr val="E4F9F9"/>
      </a:lt2>
      <a:accent1>
        <a:srgbClr val="07CB98"/>
      </a:accent1>
      <a:accent2>
        <a:srgbClr val="5A90D1"/>
      </a:accent2>
      <a:accent3>
        <a:srgbClr val="E6AD1E"/>
      </a:accent3>
      <a:accent4>
        <a:srgbClr val="EA6312"/>
      </a:accent4>
      <a:accent5>
        <a:srgbClr val="8253A9"/>
      </a:accent5>
      <a:accent6>
        <a:srgbClr val="CB274A"/>
      </a:accent6>
      <a:hlink>
        <a:srgbClr val="5A90D1"/>
      </a:hlink>
      <a:folHlink>
        <a:srgbClr val="969696"/>
      </a:folHlink>
    </a:clrScheme>
    <a:fontScheme name="Georgia">
      <a:maj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3892410_TF03030981.potx" id="{2567AFB2-9853-4679-BE91-87403262FE8F}" vid="{C4B64FFB-8D32-4BE3-A255-22328DA653E4}"/>
    </a:ext>
  </a:extLst>
</a:theme>
</file>

<file path=ppt/theme/theme2.xml><?xml version="1.0" encoding="utf-8"?>
<a:theme xmlns:a="http://schemas.openxmlformats.org/drawingml/2006/main" name="Office-Design">
  <a:themeElements>
    <a:clrScheme name="BrushedMetal">
      <a:dk1>
        <a:sysClr val="windowText" lastClr="000000"/>
      </a:dk1>
      <a:lt1>
        <a:sysClr val="window" lastClr="FFFFFF"/>
      </a:lt1>
      <a:dk2>
        <a:srgbClr val="2F333A"/>
      </a:dk2>
      <a:lt2>
        <a:srgbClr val="E4F9F9"/>
      </a:lt2>
      <a:accent1>
        <a:srgbClr val="07CB98"/>
      </a:accent1>
      <a:accent2>
        <a:srgbClr val="5A90D1"/>
      </a:accent2>
      <a:accent3>
        <a:srgbClr val="E6AD1E"/>
      </a:accent3>
      <a:accent4>
        <a:srgbClr val="EA6312"/>
      </a:accent4>
      <a:accent5>
        <a:srgbClr val="8253A9"/>
      </a:accent5>
      <a:accent6>
        <a:srgbClr val="CB274A"/>
      </a:accent6>
      <a:hlink>
        <a:srgbClr val="5A90D1"/>
      </a:hlink>
      <a:folHlink>
        <a:srgbClr val="969696"/>
      </a:folHlink>
    </a:clrScheme>
    <a:fontScheme name="Georgia">
      <a:maj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Design">
  <a:themeElements>
    <a:clrScheme name="BrushedMetal">
      <a:dk1>
        <a:sysClr val="windowText" lastClr="000000"/>
      </a:dk1>
      <a:lt1>
        <a:sysClr val="window" lastClr="FFFFFF"/>
      </a:lt1>
      <a:dk2>
        <a:srgbClr val="2F333A"/>
      </a:dk2>
      <a:lt2>
        <a:srgbClr val="E4F9F9"/>
      </a:lt2>
      <a:accent1>
        <a:srgbClr val="07CB98"/>
      </a:accent1>
      <a:accent2>
        <a:srgbClr val="5A90D1"/>
      </a:accent2>
      <a:accent3>
        <a:srgbClr val="E6AD1E"/>
      </a:accent3>
      <a:accent4>
        <a:srgbClr val="EA6312"/>
      </a:accent4>
      <a:accent5>
        <a:srgbClr val="8253A9"/>
      </a:accent5>
      <a:accent6>
        <a:srgbClr val="CB274A"/>
      </a:accent6>
      <a:hlink>
        <a:srgbClr val="5A90D1"/>
      </a:hlink>
      <a:folHlink>
        <a:srgbClr val="969696"/>
      </a:folHlink>
    </a:clrScheme>
    <a:fontScheme name="Georgia">
      <a:maj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3F7D94069FF64A86F7DFF56D60E3BE" ma:contentTypeVersion="6" ma:contentTypeDescription="Create a new document." ma:contentTypeScope="" ma:versionID="c32302c77d4085ecf495bdddb7f5e889">
  <xsd:schema xmlns:xsd="http://www.w3.org/2001/XMLSchema" xmlns:xs="http://www.w3.org/2001/XMLSchema" xmlns:p="http://schemas.microsoft.com/office/2006/metadata/properties" xmlns:ns2="a4f35948-e619-41b3-aa29-22878b09cfd2" xmlns:ns3="40262f94-9f35-4ac3-9a90-690165a166b7" targetNamespace="http://schemas.microsoft.com/office/2006/metadata/properties" ma:root="true" ma:fieldsID="4ab5ae46be95f9d0be6107e8200be7a2" ns2:_="" ns3:_="">
    <xsd:import namespace="a4f35948-e619-41b3-aa29-22878b09cfd2"/>
    <xsd:import namespace="40262f94-9f35-4ac3-9a90-690165a166b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VSO_x0020_item_x0020_id" minOccurs="0"/>
                <xsd:element ref="ns3:Item_x0020_Details" minOccurs="0"/>
                <xsd:element ref="ns3:Template_x0020_details" minOccurs="0"/>
                <xsd:element ref="ns3:Assetid_x002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35948-e619-41b3-aa29-22878b09cfd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262f94-9f35-4ac3-9a90-690165a166b7" elementFormDefault="qualified">
    <xsd:import namespace="http://schemas.microsoft.com/office/2006/documentManagement/types"/>
    <xsd:import namespace="http://schemas.microsoft.com/office/infopath/2007/PartnerControls"/>
    <xsd:element name="VSO_x0020_item_x0020_id" ma:index="10" nillable="true" ma:displayName="VSO item id" ma:description="Please add the bug number to refer to VSO items." ma:internalName="VSO_x0020_item_x0020_id">
      <xsd:simpleType>
        <xsd:restriction base="dms:Text">
          <xsd:maxLength value="255"/>
        </xsd:restriction>
      </xsd:simpleType>
    </xsd:element>
    <xsd:element name="Item_x0020_Details" ma:index="11" nillable="true" ma:displayName="Item Details" ma:internalName="Item_x0020_Details">
      <xsd:simpleType>
        <xsd:restriction base="dms:Note">
          <xsd:maxLength value="255"/>
        </xsd:restriction>
      </xsd:simpleType>
    </xsd:element>
    <xsd:element name="Template_x0020_details" ma:index="12" nillable="true" ma:displayName="Template details" ma:internalName="Template_x0020_details">
      <xsd:simpleType>
        <xsd:restriction base="dms:Text"/>
      </xsd:simpleType>
    </xsd:element>
    <xsd:element name="Assetid_x0020_" ma:index="13" nillable="true" ma:displayName="Assetid " ma:internalName="Assetid_x0020_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SO_x0020_item_x0020_id xmlns="40262f94-9f35-4ac3-9a90-690165a166b7" xsi:nil="true"/>
    <Assetid_x0020_ xmlns="40262f94-9f35-4ac3-9a90-690165a166b7" xsi:nil="true"/>
    <Item_x0020_Details xmlns="40262f94-9f35-4ac3-9a90-690165a166b7" xsi:nil="true"/>
    <Template_x0020_details xmlns="40262f94-9f35-4ac3-9a90-690165a166b7" xsi:nil="true"/>
  </documentManagement>
</p:properties>
</file>

<file path=customXml/itemProps1.xml><?xml version="1.0" encoding="utf-8"?>
<ds:datastoreItem xmlns:ds="http://schemas.openxmlformats.org/officeDocument/2006/customXml" ds:itemID="{31C05A15-2C36-4B2C-9ED7-7313D59409A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961EA76-1630-4788-A629-8FDAFC92057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f35948-e619-41b3-aa29-22878b09cfd2"/>
    <ds:schemaRef ds:uri="40262f94-9f35-4ac3-9a90-690165a166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5A16170-AED4-43FB-90C7-1F1653EBFACC}">
  <ds:schemaRefs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a4f35948-e619-41b3-aa29-22878b09cfd2"/>
    <ds:schemaRef ds:uri="http://schemas.microsoft.com/office/infopath/2007/PartnerControls"/>
    <ds:schemaRef ds:uri="40262f94-9f35-4ac3-9a90-690165a166b7"/>
    <ds:schemaRef ds:uri="http://purl.org/dc/terms/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Grüne gebürstete Metallpräsentation (Breitbild)</Template>
  <TotalTime>0</TotalTime>
  <Words>476</Words>
  <Application>Microsoft Office PowerPoint</Application>
  <PresentationFormat>Breitbild</PresentationFormat>
  <Paragraphs>186</Paragraphs>
  <Slides>18</Slides>
  <Notes>18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18</vt:i4>
      </vt:variant>
    </vt:vector>
  </HeadingPairs>
  <TitlesOfParts>
    <vt:vector size="23" baseType="lpstr">
      <vt:lpstr>Arial</vt:lpstr>
      <vt:lpstr>Calibri</vt:lpstr>
      <vt:lpstr>Courier New</vt:lpstr>
      <vt:lpstr>Georgia</vt:lpstr>
      <vt:lpstr>Gebürstetes Metall 16 : 9</vt:lpstr>
      <vt:lpstr>My Fitness Plan</vt:lpstr>
      <vt:lpstr>‚Initiale Idee‘</vt:lpstr>
      <vt:lpstr>Analysen</vt:lpstr>
      <vt:lpstr>Analysen</vt:lpstr>
      <vt:lpstr>Analysen</vt:lpstr>
      <vt:lpstr>Projektstruktur</vt:lpstr>
      <vt:lpstr>Home Screen</vt:lpstr>
      <vt:lpstr>Settings Screen</vt:lpstr>
      <vt:lpstr>Exercises Screen</vt:lpstr>
      <vt:lpstr>Exercises Screen Pt.2</vt:lpstr>
      <vt:lpstr>Edit Screen</vt:lpstr>
      <vt:lpstr>Training Screen</vt:lpstr>
      <vt:lpstr>Calendar Screen</vt:lpstr>
      <vt:lpstr>Navigation</vt:lpstr>
      <vt:lpstr>Koin – Dependency Injection</vt:lpstr>
      <vt:lpstr>Remote Source / Repositories</vt:lpstr>
      <vt:lpstr>‚Was schief gelaufen ist‘</vt:lpstr>
      <vt:lpstr>Vielen Dank für Ihre Aufmerksamkeit!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Fitness Plan</dc:title>
  <dc:creator>Alexander Reich</dc:creator>
  <cp:lastModifiedBy>Alexander Reich</cp:lastModifiedBy>
  <cp:revision>1</cp:revision>
  <dcterms:created xsi:type="dcterms:W3CDTF">2022-03-23T16:58:35Z</dcterms:created>
  <dcterms:modified xsi:type="dcterms:W3CDTF">2022-03-23T19:19:19Z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